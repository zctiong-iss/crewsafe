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"/>
  </p:notesMasterIdLst>
  <p:sldIdLst>
    <p:sldId id="305" r:id="rId5"/>
    <p:sldId id="301" r:id="rId6"/>
    <p:sldId id="309" r:id="rId7"/>
    <p:sldId id="29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606973-C6E2-3E42-A159-131ECC809542}" v="674" dt="2026-07-26T01:33:10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33"/>
    <p:restoredTop sz="72265"/>
  </p:normalViewPr>
  <p:slideViewPr>
    <p:cSldViewPr snapToGrid="0" snapToObjects="1">
      <p:cViewPr>
        <p:scale>
          <a:sx n="110" d="100"/>
          <a:sy n="110" d="100"/>
        </p:scale>
        <p:origin x="-208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ong Cheng Tiong" userId="20d9c5c8-5f41-4b91-8905-988546a819c4" providerId="ADAL" clId="{302E9C58-0F5A-5147-9FDD-2A71C8DB758C}"/>
    <pc:docChg chg="custSel addSld delSld modSld addMainMaster delMainMaster">
      <pc:chgData name="Zhong Cheng Tiong" userId="20d9c5c8-5f41-4b91-8905-988546a819c4" providerId="ADAL" clId="{302E9C58-0F5A-5147-9FDD-2A71C8DB758C}" dt="2026-07-26T02:15:09.575" v="61"/>
      <pc:docMkLst>
        <pc:docMk/>
      </pc:docMkLst>
      <pc:sldChg chg="del mod modClrScheme chgLayout">
        <pc:chgData name="Zhong Cheng Tiong" userId="20d9c5c8-5f41-4b91-8905-988546a819c4" providerId="ADAL" clId="{302E9C58-0F5A-5147-9FDD-2A71C8DB758C}" dt="2026-07-26T01:47:41.981" v="12"/>
        <pc:sldMkLst>
          <pc:docMk/>
          <pc:sldMk cId="1171161328" sldId="287"/>
        </pc:sldMkLst>
      </pc:sldChg>
      <pc:sldChg chg="del mod modClrScheme chgLayout">
        <pc:chgData name="Zhong Cheng Tiong" userId="20d9c5c8-5f41-4b91-8905-988546a819c4" providerId="ADAL" clId="{302E9C58-0F5A-5147-9FDD-2A71C8DB758C}" dt="2026-07-26T01:47:28.853" v="8"/>
        <pc:sldMkLst>
          <pc:docMk/>
          <pc:sldMk cId="179365484" sldId="289"/>
        </pc:sldMkLst>
      </pc:sldChg>
      <pc:sldChg chg="mod modClrScheme chgLayout">
        <pc:chgData name="Zhong Cheng Tiong" userId="20d9c5c8-5f41-4b91-8905-988546a819c4" providerId="ADAL" clId="{302E9C58-0F5A-5147-9FDD-2A71C8DB758C}" dt="2026-07-26T01:47:15.229" v="4"/>
        <pc:sldMkLst>
          <pc:docMk/>
          <pc:sldMk cId="3966039577" sldId="290"/>
        </pc:sldMkLst>
      </pc:sldChg>
      <pc:sldChg chg="del">
        <pc:chgData name="Zhong Cheng Tiong" userId="20d9c5c8-5f41-4b91-8905-988546a819c4" providerId="ADAL" clId="{302E9C58-0F5A-5147-9FDD-2A71C8DB758C}" dt="2026-07-26T01:47:15.199" v="1"/>
        <pc:sldMkLst>
          <pc:docMk/>
          <pc:sldMk cId="4198793250" sldId="291"/>
        </pc:sldMkLst>
      </pc:sldChg>
      <pc:sldChg chg="add del">
        <pc:chgData name="Zhong Cheng Tiong" userId="20d9c5c8-5f41-4b91-8905-988546a819c4" providerId="ADAL" clId="{302E9C58-0F5A-5147-9FDD-2A71C8DB758C}" dt="2026-07-26T01:47:36.056" v="10"/>
        <pc:sldMkLst>
          <pc:docMk/>
          <pc:sldMk cId="2379086517" sldId="292"/>
        </pc:sldMkLst>
      </pc:sldChg>
      <pc:sldChg chg="new del">
        <pc:chgData name="Zhong Cheng Tiong" userId="20d9c5c8-5f41-4b91-8905-988546a819c4" providerId="ADAL" clId="{302E9C58-0F5A-5147-9FDD-2A71C8DB758C}" dt="2026-07-26T01:47:15.243" v="6"/>
        <pc:sldMkLst>
          <pc:docMk/>
          <pc:sldMk cId="3222435811" sldId="293"/>
        </pc:sldMkLst>
      </pc:sldChg>
      <pc:sldChg chg="modSp add del mod">
        <pc:chgData name="Zhong Cheng Tiong" userId="20d9c5c8-5f41-4b91-8905-988546a819c4" providerId="ADAL" clId="{302E9C58-0F5A-5147-9FDD-2A71C8DB758C}" dt="2026-07-26T02:13:14.051" v="49"/>
        <pc:sldMkLst>
          <pc:docMk/>
          <pc:sldMk cId="3291293199" sldId="293"/>
        </pc:sldMkLst>
        <pc:spChg chg="mod">
          <ac:chgData name="Zhong Cheng Tiong" userId="20d9c5c8-5f41-4b91-8905-988546a819c4" providerId="ADAL" clId="{302E9C58-0F5A-5147-9FDD-2A71C8DB758C}" dt="2026-07-26T02:12:54.899" v="45"/>
          <ac:spMkLst>
            <pc:docMk/>
            <pc:sldMk cId="3291293199" sldId="293"/>
            <ac:spMk id="85" creationId="{00000000-0000-0000-0000-000000000000}"/>
          </ac:spMkLst>
        </pc:spChg>
        <pc:spChg chg="mod">
          <ac:chgData name="Zhong Cheng Tiong" userId="20d9c5c8-5f41-4b91-8905-988546a819c4" providerId="ADAL" clId="{302E9C58-0F5A-5147-9FDD-2A71C8DB758C}" dt="2026-07-26T02:12:54.900" v="47"/>
          <ac:spMkLst>
            <pc:docMk/>
            <pc:sldMk cId="3291293199" sldId="293"/>
            <ac:spMk id="86" creationId="{00000000-0000-0000-0000-000000000000}"/>
          </ac:spMkLst>
        </pc:spChg>
      </pc:sldChg>
      <pc:sldChg chg="add del">
        <pc:chgData name="Zhong Cheng Tiong" userId="20d9c5c8-5f41-4b91-8905-988546a819c4" providerId="ADAL" clId="{302E9C58-0F5A-5147-9FDD-2A71C8DB758C}" dt="2026-07-26T01:50:12.956" v="16"/>
        <pc:sldMkLst>
          <pc:docMk/>
          <pc:sldMk cId="2762095540" sldId="294"/>
        </pc:sldMkLst>
      </pc:sldChg>
      <pc:sldChg chg="add del">
        <pc:chgData name="Zhong Cheng Tiong" userId="20d9c5c8-5f41-4b91-8905-988546a819c4" providerId="ADAL" clId="{302E9C58-0F5A-5147-9FDD-2A71C8DB758C}" dt="2026-07-26T01:48:41.552" v="14"/>
        <pc:sldMkLst>
          <pc:docMk/>
          <pc:sldMk cId="2203866353" sldId="295"/>
        </pc:sldMkLst>
      </pc:sldChg>
      <pc:sldChg chg="add del">
        <pc:chgData name="Zhong Cheng Tiong" userId="20d9c5c8-5f41-4b91-8905-988546a819c4" providerId="ADAL" clId="{302E9C58-0F5A-5147-9FDD-2A71C8DB758C}" dt="2026-07-26T01:53:51.037" v="20"/>
        <pc:sldMkLst>
          <pc:docMk/>
          <pc:sldMk cId="956615452" sldId="296"/>
        </pc:sldMkLst>
      </pc:sldChg>
      <pc:sldChg chg="add del">
        <pc:chgData name="Zhong Cheng Tiong" userId="20d9c5c8-5f41-4b91-8905-988546a819c4" providerId="ADAL" clId="{302E9C58-0F5A-5147-9FDD-2A71C8DB758C}" dt="2026-07-26T01:53:18.579" v="18"/>
        <pc:sldMkLst>
          <pc:docMk/>
          <pc:sldMk cId="1229782545" sldId="297"/>
        </pc:sldMkLst>
      </pc:sldChg>
      <pc:sldChg chg="add del">
        <pc:chgData name="Zhong Cheng Tiong" userId="20d9c5c8-5f41-4b91-8905-988546a819c4" providerId="ADAL" clId="{302E9C58-0F5A-5147-9FDD-2A71C8DB758C}" dt="2026-07-26T01:55:00.029" v="22"/>
        <pc:sldMkLst>
          <pc:docMk/>
          <pc:sldMk cId="2330375122" sldId="298"/>
        </pc:sldMkLst>
      </pc:sldChg>
      <pc:sldChg chg="add del">
        <pc:chgData name="Zhong Cheng Tiong" userId="20d9c5c8-5f41-4b91-8905-988546a819c4" providerId="ADAL" clId="{302E9C58-0F5A-5147-9FDD-2A71C8DB758C}" dt="2026-07-26T01:55:24.989" v="24"/>
        <pc:sldMkLst>
          <pc:docMk/>
          <pc:sldMk cId="1357892495" sldId="299"/>
        </pc:sldMkLst>
      </pc:sldChg>
      <pc:sldChg chg="add del">
        <pc:chgData name="Zhong Cheng Tiong" userId="20d9c5c8-5f41-4b91-8905-988546a819c4" providerId="ADAL" clId="{302E9C58-0F5A-5147-9FDD-2A71C8DB758C}" dt="2026-07-26T01:56:10.457" v="26"/>
        <pc:sldMkLst>
          <pc:docMk/>
          <pc:sldMk cId="285183708" sldId="300"/>
        </pc:sldMkLst>
      </pc:sldChg>
      <pc:sldChg chg="add">
        <pc:chgData name="Zhong Cheng Tiong" userId="20d9c5c8-5f41-4b91-8905-988546a819c4" providerId="ADAL" clId="{302E9C58-0F5A-5147-9FDD-2A71C8DB758C}" dt="2026-07-26T01:55:24.987" v="23"/>
        <pc:sldMkLst>
          <pc:docMk/>
          <pc:sldMk cId="988316189" sldId="301"/>
        </pc:sldMkLst>
      </pc:sldChg>
      <pc:sldChg chg="add del">
        <pc:chgData name="Zhong Cheng Tiong" userId="20d9c5c8-5f41-4b91-8905-988546a819c4" providerId="ADAL" clId="{302E9C58-0F5A-5147-9FDD-2A71C8DB758C}" dt="2026-07-26T02:00:43.015" v="28"/>
        <pc:sldMkLst>
          <pc:docMk/>
          <pc:sldMk cId="3643041774" sldId="302"/>
        </pc:sldMkLst>
      </pc:sldChg>
      <pc:sldChg chg="add del">
        <pc:chgData name="Zhong Cheng Tiong" userId="20d9c5c8-5f41-4b91-8905-988546a819c4" providerId="ADAL" clId="{302E9C58-0F5A-5147-9FDD-2A71C8DB758C}" dt="2026-07-26T02:03:16.014" v="30"/>
        <pc:sldMkLst>
          <pc:docMk/>
          <pc:sldMk cId="632111586" sldId="303"/>
        </pc:sldMkLst>
      </pc:sldChg>
      <pc:sldChg chg="add del">
        <pc:chgData name="Zhong Cheng Tiong" userId="20d9c5c8-5f41-4b91-8905-988546a819c4" providerId="ADAL" clId="{302E9C58-0F5A-5147-9FDD-2A71C8DB758C}" dt="2026-07-26T02:05:24.703" v="32"/>
        <pc:sldMkLst>
          <pc:docMk/>
          <pc:sldMk cId="4290137102" sldId="304"/>
        </pc:sldMkLst>
      </pc:sldChg>
      <pc:sldChg chg="modSp add mod">
        <pc:chgData name="Zhong Cheng Tiong" userId="20d9c5c8-5f41-4b91-8905-988546a819c4" providerId="ADAL" clId="{302E9C58-0F5A-5147-9FDD-2A71C8DB758C}" dt="2026-07-26T02:05:52.784" v="43"/>
        <pc:sldMkLst>
          <pc:docMk/>
          <pc:sldMk cId="1419083277" sldId="305"/>
        </pc:sldMkLst>
        <pc:spChg chg="mod">
          <ac:chgData name="Zhong Cheng Tiong" userId="20d9c5c8-5f41-4b91-8905-988546a819c4" providerId="ADAL" clId="{302E9C58-0F5A-5147-9FDD-2A71C8DB758C}" dt="2026-07-26T02:05:52.782" v="33"/>
          <ac:spMkLst>
            <pc:docMk/>
            <pc:sldMk cId="1419083277" sldId="305"/>
            <ac:spMk id="13" creationId="{00000000-0000-0000-0000-000000000000}"/>
          </ac:spMkLst>
        </pc:spChg>
        <pc:spChg chg="mod">
          <ac:chgData name="Zhong Cheng Tiong" userId="20d9c5c8-5f41-4b91-8905-988546a819c4" providerId="ADAL" clId="{302E9C58-0F5A-5147-9FDD-2A71C8DB758C}" dt="2026-07-26T02:05:52.782" v="34"/>
          <ac:spMkLst>
            <pc:docMk/>
            <pc:sldMk cId="1419083277" sldId="305"/>
            <ac:spMk id="14" creationId="{00000000-0000-0000-0000-000000000000}"/>
          </ac:spMkLst>
        </pc:spChg>
        <pc:spChg chg="mod">
          <ac:chgData name="Zhong Cheng Tiong" userId="20d9c5c8-5f41-4b91-8905-988546a819c4" providerId="ADAL" clId="{302E9C58-0F5A-5147-9FDD-2A71C8DB758C}" dt="2026-07-26T02:05:52.782" v="35"/>
          <ac:spMkLst>
            <pc:docMk/>
            <pc:sldMk cId="1419083277" sldId="305"/>
            <ac:spMk id="15" creationId="{00000000-0000-0000-0000-000000000000}"/>
          </ac:spMkLst>
        </pc:spChg>
        <pc:spChg chg="mod">
          <ac:chgData name="Zhong Cheng Tiong" userId="20d9c5c8-5f41-4b91-8905-988546a819c4" providerId="ADAL" clId="{302E9C58-0F5A-5147-9FDD-2A71C8DB758C}" dt="2026-07-26T02:05:52.782" v="36"/>
          <ac:spMkLst>
            <pc:docMk/>
            <pc:sldMk cId="1419083277" sldId="305"/>
            <ac:spMk id="16" creationId="{00000000-0000-0000-0000-000000000000}"/>
          </ac:spMkLst>
        </pc:spChg>
        <pc:spChg chg="mod">
          <ac:chgData name="Zhong Cheng Tiong" userId="20d9c5c8-5f41-4b91-8905-988546a819c4" providerId="ADAL" clId="{302E9C58-0F5A-5147-9FDD-2A71C8DB758C}" dt="2026-07-26T02:05:52.783" v="37"/>
          <ac:spMkLst>
            <pc:docMk/>
            <pc:sldMk cId="1419083277" sldId="305"/>
            <ac:spMk id="17" creationId="{00000000-0000-0000-0000-000000000000}"/>
          </ac:spMkLst>
        </pc:spChg>
        <pc:spChg chg="mod">
          <ac:chgData name="Zhong Cheng Tiong" userId="20d9c5c8-5f41-4b91-8905-988546a819c4" providerId="ADAL" clId="{302E9C58-0F5A-5147-9FDD-2A71C8DB758C}" dt="2026-07-26T02:05:52.783" v="38"/>
          <ac:spMkLst>
            <pc:docMk/>
            <pc:sldMk cId="1419083277" sldId="305"/>
            <ac:spMk id="18" creationId="{00000000-0000-0000-0000-000000000000}"/>
          </ac:spMkLst>
        </pc:spChg>
        <pc:spChg chg="mod">
          <ac:chgData name="Zhong Cheng Tiong" userId="20d9c5c8-5f41-4b91-8905-988546a819c4" providerId="ADAL" clId="{302E9C58-0F5A-5147-9FDD-2A71C8DB758C}" dt="2026-07-26T02:05:52.783" v="39"/>
          <ac:spMkLst>
            <pc:docMk/>
            <pc:sldMk cId="1419083277" sldId="305"/>
            <ac:spMk id="19" creationId="{00000000-0000-0000-0000-000000000000}"/>
          </ac:spMkLst>
        </pc:spChg>
        <pc:spChg chg="mod">
          <ac:chgData name="Zhong Cheng Tiong" userId="20d9c5c8-5f41-4b91-8905-988546a819c4" providerId="ADAL" clId="{302E9C58-0F5A-5147-9FDD-2A71C8DB758C}" dt="2026-07-26T02:05:52.784" v="40"/>
          <ac:spMkLst>
            <pc:docMk/>
            <pc:sldMk cId="1419083277" sldId="305"/>
            <ac:spMk id="20" creationId="{00000000-0000-0000-0000-000000000000}"/>
          </ac:spMkLst>
        </pc:spChg>
        <pc:spChg chg="mod">
          <ac:chgData name="Zhong Cheng Tiong" userId="20d9c5c8-5f41-4b91-8905-988546a819c4" providerId="ADAL" clId="{302E9C58-0F5A-5147-9FDD-2A71C8DB758C}" dt="2026-07-26T02:05:52.784" v="41"/>
          <ac:spMkLst>
            <pc:docMk/>
            <pc:sldMk cId="1419083277" sldId="305"/>
            <ac:spMk id="21" creationId="{00000000-0000-0000-0000-000000000000}"/>
          </ac:spMkLst>
        </pc:spChg>
        <pc:spChg chg="mod">
          <ac:chgData name="Zhong Cheng Tiong" userId="20d9c5c8-5f41-4b91-8905-988546a819c4" providerId="ADAL" clId="{302E9C58-0F5A-5147-9FDD-2A71C8DB758C}" dt="2026-07-26T02:05:52.784" v="42"/>
          <ac:spMkLst>
            <pc:docMk/>
            <pc:sldMk cId="1419083277" sldId="305"/>
            <ac:spMk id="22" creationId="{00000000-0000-0000-0000-000000000000}"/>
          </ac:spMkLst>
        </pc:spChg>
        <pc:spChg chg="mod">
          <ac:chgData name="Zhong Cheng Tiong" userId="20d9c5c8-5f41-4b91-8905-988546a819c4" providerId="ADAL" clId="{302E9C58-0F5A-5147-9FDD-2A71C8DB758C}" dt="2026-07-26T02:05:52.784" v="43"/>
          <ac:spMkLst>
            <pc:docMk/>
            <pc:sldMk cId="1419083277" sldId="305"/>
            <ac:spMk id="201" creationId="{00000000-0000-0000-0000-000000000000}"/>
          </ac:spMkLst>
        </pc:spChg>
      </pc:sldChg>
      <pc:sldChg chg="modSp add del mod">
        <pc:chgData name="Zhong Cheng Tiong" userId="20d9c5c8-5f41-4b91-8905-988546a819c4" providerId="ADAL" clId="{302E9C58-0F5A-5147-9FDD-2A71C8DB758C}" dt="2026-07-26T02:13:54.767" v="56"/>
        <pc:sldMkLst>
          <pc:docMk/>
          <pc:sldMk cId="30354844" sldId="306"/>
        </pc:sldMkLst>
        <pc:spChg chg="mod">
          <ac:chgData name="Zhong Cheng Tiong" userId="20d9c5c8-5f41-4b91-8905-988546a819c4" providerId="ADAL" clId="{302E9C58-0F5A-5147-9FDD-2A71C8DB758C}" dt="2026-07-26T02:13:45.556" v="52"/>
          <ac:spMkLst>
            <pc:docMk/>
            <pc:sldMk cId="30354844" sldId="306"/>
            <ac:spMk id="85" creationId="{00000000-0000-0000-0000-000000000000}"/>
          </ac:spMkLst>
        </pc:spChg>
        <pc:spChg chg="mod">
          <ac:chgData name="Zhong Cheng Tiong" userId="20d9c5c8-5f41-4b91-8905-988546a819c4" providerId="ADAL" clId="{302E9C58-0F5A-5147-9FDD-2A71C8DB758C}" dt="2026-07-26T02:13:45.556" v="54"/>
          <ac:spMkLst>
            <pc:docMk/>
            <pc:sldMk cId="30354844" sldId="306"/>
            <ac:spMk id="86" creationId="{00000000-0000-0000-0000-000000000000}"/>
          </ac:spMkLst>
        </pc:spChg>
      </pc:sldChg>
      <pc:sldChg chg="add del">
        <pc:chgData name="Zhong Cheng Tiong" userId="20d9c5c8-5f41-4b91-8905-988546a819c4" providerId="ADAL" clId="{302E9C58-0F5A-5147-9FDD-2A71C8DB758C}" dt="2026-07-26T02:14:30.530" v="58"/>
        <pc:sldMkLst>
          <pc:docMk/>
          <pc:sldMk cId="3215564001" sldId="307"/>
        </pc:sldMkLst>
      </pc:sldChg>
      <pc:sldChg chg="add del">
        <pc:chgData name="Zhong Cheng Tiong" userId="20d9c5c8-5f41-4b91-8905-988546a819c4" providerId="ADAL" clId="{302E9C58-0F5A-5147-9FDD-2A71C8DB758C}" dt="2026-07-26T02:15:09.519" v="60"/>
        <pc:sldMkLst>
          <pc:docMk/>
          <pc:sldMk cId="2230307640" sldId="308"/>
        </pc:sldMkLst>
      </pc:sldChg>
      <pc:sldChg chg="modSp add mod">
        <pc:chgData name="Zhong Cheng Tiong" userId="20d9c5c8-5f41-4b91-8905-988546a819c4" providerId="ADAL" clId="{302E9C58-0F5A-5147-9FDD-2A71C8DB758C}" dt="2026-07-26T02:15:09.575" v="61"/>
        <pc:sldMkLst>
          <pc:docMk/>
          <pc:sldMk cId="459054840" sldId="309"/>
        </pc:sldMkLst>
        <pc:spChg chg="mod">
          <ac:chgData name="Zhong Cheng Tiong" userId="20d9c5c8-5f41-4b91-8905-988546a819c4" providerId="ADAL" clId="{302E9C58-0F5A-5147-9FDD-2A71C8DB758C}" dt="2026-07-26T02:15:09.575" v="61"/>
          <ac:spMkLst>
            <pc:docMk/>
            <pc:sldMk cId="459054840" sldId="309"/>
            <ac:spMk id="8" creationId="{00000000-0000-0000-0000-000000000000}"/>
          </ac:spMkLst>
        </pc:spChg>
      </pc:sldChg>
      <pc:sldMasterChg chg="del delSldLayout">
        <pc:chgData name="Zhong Cheng Tiong" userId="20d9c5c8-5f41-4b91-8905-988546a819c4" providerId="ADAL" clId="{302E9C58-0F5A-5147-9FDD-2A71C8DB758C}" dt="2026-07-26T01:47:15.243" v="6"/>
        <pc:sldMasterMkLst>
          <pc:docMk/>
          <pc:sldMasterMk cId="2209977519" sldId="2147483648"/>
        </pc:sldMasterMkLst>
        <pc:sldLayoutChg chg="del">
          <pc:chgData name="Zhong Cheng Tiong" userId="20d9c5c8-5f41-4b91-8905-988546a819c4" providerId="ADAL" clId="{302E9C58-0F5A-5147-9FDD-2A71C8DB758C}" dt="2026-07-26T01:47:15.243" v="6"/>
          <pc:sldLayoutMkLst>
            <pc:docMk/>
            <pc:sldMasterMk cId="2209977519" sldId="2147483648"/>
            <pc:sldLayoutMk cId="3168075583" sldId="2147483649"/>
          </pc:sldLayoutMkLst>
        </pc:sldLayoutChg>
        <pc:sldLayoutChg chg="del">
          <pc:chgData name="Zhong Cheng Tiong" userId="20d9c5c8-5f41-4b91-8905-988546a819c4" providerId="ADAL" clId="{302E9C58-0F5A-5147-9FDD-2A71C8DB758C}" dt="2026-07-26T01:47:15.243" v="6"/>
          <pc:sldLayoutMkLst>
            <pc:docMk/>
            <pc:sldMasterMk cId="2209977519" sldId="2147483648"/>
            <pc:sldLayoutMk cId="2614314258" sldId="2147483650"/>
          </pc:sldLayoutMkLst>
        </pc:sldLayoutChg>
        <pc:sldLayoutChg chg="del">
          <pc:chgData name="Zhong Cheng Tiong" userId="20d9c5c8-5f41-4b91-8905-988546a819c4" providerId="ADAL" clId="{302E9C58-0F5A-5147-9FDD-2A71C8DB758C}" dt="2026-07-26T01:47:15.243" v="6"/>
          <pc:sldLayoutMkLst>
            <pc:docMk/>
            <pc:sldMasterMk cId="2209977519" sldId="2147483648"/>
            <pc:sldLayoutMk cId="960648375" sldId="2147483651"/>
          </pc:sldLayoutMkLst>
        </pc:sldLayoutChg>
        <pc:sldLayoutChg chg="del">
          <pc:chgData name="Zhong Cheng Tiong" userId="20d9c5c8-5f41-4b91-8905-988546a819c4" providerId="ADAL" clId="{302E9C58-0F5A-5147-9FDD-2A71C8DB758C}" dt="2026-07-26T01:47:15.243" v="6"/>
          <pc:sldLayoutMkLst>
            <pc:docMk/>
            <pc:sldMasterMk cId="2209977519" sldId="2147483648"/>
            <pc:sldLayoutMk cId="2782244947" sldId="2147483652"/>
          </pc:sldLayoutMkLst>
        </pc:sldLayoutChg>
        <pc:sldLayoutChg chg="del">
          <pc:chgData name="Zhong Cheng Tiong" userId="20d9c5c8-5f41-4b91-8905-988546a819c4" providerId="ADAL" clId="{302E9C58-0F5A-5147-9FDD-2A71C8DB758C}" dt="2026-07-26T01:47:15.243" v="6"/>
          <pc:sldLayoutMkLst>
            <pc:docMk/>
            <pc:sldMasterMk cId="2209977519" sldId="2147483648"/>
            <pc:sldLayoutMk cId="990158736" sldId="2147483653"/>
          </pc:sldLayoutMkLst>
        </pc:sldLayoutChg>
        <pc:sldLayoutChg chg="del">
          <pc:chgData name="Zhong Cheng Tiong" userId="20d9c5c8-5f41-4b91-8905-988546a819c4" providerId="ADAL" clId="{302E9C58-0F5A-5147-9FDD-2A71C8DB758C}" dt="2026-07-26T01:47:15.243" v="6"/>
          <pc:sldLayoutMkLst>
            <pc:docMk/>
            <pc:sldMasterMk cId="2209977519" sldId="2147483648"/>
            <pc:sldLayoutMk cId="727027711" sldId="2147483654"/>
          </pc:sldLayoutMkLst>
        </pc:sldLayoutChg>
        <pc:sldLayoutChg chg="del">
          <pc:chgData name="Zhong Cheng Tiong" userId="20d9c5c8-5f41-4b91-8905-988546a819c4" providerId="ADAL" clId="{302E9C58-0F5A-5147-9FDD-2A71C8DB758C}" dt="2026-07-26T01:47:15.243" v="6"/>
          <pc:sldLayoutMkLst>
            <pc:docMk/>
            <pc:sldMasterMk cId="2209977519" sldId="2147483648"/>
            <pc:sldLayoutMk cId="1212999818" sldId="2147483655"/>
          </pc:sldLayoutMkLst>
        </pc:sldLayoutChg>
        <pc:sldLayoutChg chg="del">
          <pc:chgData name="Zhong Cheng Tiong" userId="20d9c5c8-5f41-4b91-8905-988546a819c4" providerId="ADAL" clId="{302E9C58-0F5A-5147-9FDD-2A71C8DB758C}" dt="2026-07-26T01:47:15.243" v="6"/>
          <pc:sldLayoutMkLst>
            <pc:docMk/>
            <pc:sldMasterMk cId="2209977519" sldId="2147483648"/>
            <pc:sldLayoutMk cId="1840726560" sldId="2147483656"/>
          </pc:sldLayoutMkLst>
        </pc:sldLayoutChg>
        <pc:sldLayoutChg chg="del">
          <pc:chgData name="Zhong Cheng Tiong" userId="20d9c5c8-5f41-4b91-8905-988546a819c4" providerId="ADAL" clId="{302E9C58-0F5A-5147-9FDD-2A71C8DB758C}" dt="2026-07-26T01:47:15.243" v="6"/>
          <pc:sldLayoutMkLst>
            <pc:docMk/>
            <pc:sldMasterMk cId="2209977519" sldId="2147483648"/>
            <pc:sldLayoutMk cId="3889236939" sldId="2147483657"/>
          </pc:sldLayoutMkLst>
        </pc:sldLayoutChg>
        <pc:sldLayoutChg chg="del">
          <pc:chgData name="Zhong Cheng Tiong" userId="20d9c5c8-5f41-4b91-8905-988546a819c4" providerId="ADAL" clId="{302E9C58-0F5A-5147-9FDD-2A71C8DB758C}" dt="2026-07-26T01:47:15.243" v="6"/>
          <pc:sldLayoutMkLst>
            <pc:docMk/>
            <pc:sldMasterMk cId="2209977519" sldId="2147483648"/>
            <pc:sldLayoutMk cId="2910927964" sldId="2147483658"/>
          </pc:sldLayoutMkLst>
        </pc:sldLayoutChg>
        <pc:sldLayoutChg chg="del">
          <pc:chgData name="Zhong Cheng Tiong" userId="20d9c5c8-5f41-4b91-8905-988546a819c4" providerId="ADAL" clId="{302E9C58-0F5A-5147-9FDD-2A71C8DB758C}" dt="2026-07-26T01:47:15.243" v="6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addSldLayout modSldLayout">
        <pc:chgData name="Zhong Cheng Tiong" userId="20d9c5c8-5f41-4b91-8905-988546a819c4" providerId="ADAL" clId="{302E9C58-0F5A-5147-9FDD-2A71C8DB758C}" dt="2026-07-26T01:47:15.198" v="0"/>
        <pc:sldMasterMkLst>
          <pc:docMk/>
          <pc:sldMasterMk cId="2209977519" sldId="2147483660"/>
        </pc:sldMasterMkLst>
        <pc:sldLayoutChg chg="add mod">
          <pc:chgData name="Zhong Cheng Tiong" userId="20d9c5c8-5f41-4b91-8905-988546a819c4" providerId="ADAL" clId="{302E9C58-0F5A-5147-9FDD-2A71C8DB758C}" dt="2026-07-26T01:47:15.198" v="0"/>
          <pc:sldLayoutMkLst>
            <pc:docMk/>
            <pc:sldMasterMk cId="2209977519" sldId="2147483660"/>
            <pc:sldLayoutMk cId="3168075583" sldId="2147483661"/>
          </pc:sldLayoutMkLst>
        </pc:sldLayoutChg>
        <pc:sldLayoutChg chg="add mod">
          <pc:chgData name="Zhong Cheng Tiong" userId="20d9c5c8-5f41-4b91-8905-988546a819c4" providerId="ADAL" clId="{302E9C58-0F5A-5147-9FDD-2A71C8DB758C}" dt="2026-07-26T01:47:15.198" v="0"/>
          <pc:sldLayoutMkLst>
            <pc:docMk/>
            <pc:sldMasterMk cId="2209977519" sldId="2147483660"/>
            <pc:sldLayoutMk cId="2614314258" sldId="2147483662"/>
          </pc:sldLayoutMkLst>
        </pc:sldLayoutChg>
        <pc:sldLayoutChg chg="add mod">
          <pc:chgData name="Zhong Cheng Tiong" userId="20d9c5c8-5f41-4b91-8905-988546a819c4" providerId="ADAL" clId="{302E9C58-0F5A-5147-9FDD-2A71C8DB758C}" dt="2026-07-26T01:47:15.198" v="0"/>
          <pc:sldLayoutMkLst>
            <pc:docMk/>
            <pc:sldMasterMk cId="2209977519" sldId="2147483660"/>
            <pc:sldLayoutMk cId="960648375" sldId="2147483663"/>
          </pc:sldLayoutMkLst>
        </pc:sldLayoutChg>
        <pc:sldLayoutChg chg="add mod">
          <pc:chgData name="Zhong Cheng Tiong" userId="20d9c5c8-5f41-4b91-8905-988546a819c4" providerId="ADAL" clId="{302E9C58-0F5A-5147-9FDD-2A71C8DB758C}" dt="2026-07-26T01:47:15.198" v="0"/>
          <pc:sldLayoutMkLst>
            <pc:docMk/>
            <pc:sldMasterMk cId="2209977519" sldId="2147483660"/>
            <pc:sldLayoutMk cId="2782244947" sldId="2147483664"/>
          </pc:sldLayoutMkLst>
        </pc:sldLayoutChg>
        <pc:sldLayoutChg chg="add mod">
          <pc:chgData name="Zhong Cheng Tiong" userId="20d9c5c8-5f41-4b91-8905-988546a819c4" providerId="ADAL" clId="{302E9C58-0F5A-5147-9FDD-2A71C8DB758C}" dt="2026-07-26T01:47:15.198" v="0"/>
          <pc:sldLayoutMkLst>
            <pc:docMk/>
            <pc:sldMasterMk cId="2209977519" sldId="2147483660"/>
            <pc:sldLayoutMk cId="990158736" sldId="2147483665"/>
          </pc:sldLayoutMkLst>
        </pc:sldLayoutChg>
        <pc:sldLayoutChg chg="add mod">
          <pc:chgData name="Zhong Cheng Tiong" userId="20d9c5c8-5f41-4b91-8905-988546a819c4" providerId="ADAL" clId="{302E9C58-0F5A-5147-9FDD-2A71C8DB758C}" dt="2026-07-26T01:47:15.198" v="0"/>
          <pc:sldLayoutMkLst>
            <pc:docMk/>
            <pc:sldMasterMk cId="2209977519" sldId="2147483660"/>
            <pc:sldLayoutMk cId="727027711" sldId="2147483666"/>
          </pc:sldLayoutMkLst>
        </pc:sldLayoutChg>
        <pc:sldLayoutChg chg="add mod">
          <pc:chgData name="Zhong Cheng Tiong" userId="20d9c5c8-5f41-4b91-8905-988546a819c4" providerId="ADAL" clId="{302E9C58-0F5A-5147-9FDD-2A71C8DB758C}" dt="2026-07-26T01:47:15.198" v="0"/>
          <pc:sldLayoutMkLst>
            <pc:docMk/>
            <pc:sldMasterMk cId="2209977519" sldId="2147483660"/>
            <pc:sldLayoutMk cId="1212999818" sldId="2147483667"/>
          </pc:sldLayoutMkLst>
        </pc:sldLayoutChg>
        <pc:sldLayoutChg chg="add mod">
          <pc:chgData name="Zhong Cheng Tiong" userId="20d9c5c8-5f41-4b91-8905-988546a819c4" providerId="ADAL" clId="{302E9C58-0F5A-5147-9FDD-2A71C8DB758C}" dt="2026-07-26T01:47:15.198" v="0"/>
          <pc:sldLayoutMkLst>
            <pc:docMk/>
            <pc:sldMasterMk cId="2209977519" sldId="2147483660"/>
            <pc:sldLayoutMk cId="1840726560" sldId="2147483668"/>
          </pc:sldLayoutMkLst>
        </pc:sldLayoutChg>
        <pc:sldLayoutChg chg="add mod">
          <pc:chgData name="Zhong Cheng Tiong" userId="20d9c5c8-5f41-4b91-8905-988546a819c4" providerId="ADAL" clId="{302E9C58-0F5A-5147-9FDD-2A71C8DB758C}" dt="2026-07-26T01:47:15.198" v="0"/>
          <pc:sldLayoutMkLst>
            <pc:docMk/>
            <pc:sldMasterMk cId="2209977519" sldId="2147483660"/>
            <pc:sldLayoutMk cId="3889236939" sldId="2147483669"/>
          </pc:sldLayoutMkLst>
        </pc:sldLayoutChg>
        <pc:sldLayoutChg chg="add mod">
          <pc:chgData name="Zhong Cheng Tiong" userId="20d9c5c8-5f41-4b91-8905-988546a819c4" providerId="ADAL" clId="{302E9C58-0F5A-5147-9FDD-2A71C8DB758C}" dt="2026-07-26T01:47:15.198" v="0"/>
          <pc:sldLayoutMkLst>
            <pc:docMk/>
            <pc:sldMasterMk cId="2209977519" sldId="2147483660"/>
            <pc:sldLayoutMk cId="2910927964" sldId="2147483670"/>
          </pc:sldLayoutMkLst>
        </pc:sldLayoutChg>
        <pc:sldLayoutChg chg="add mod">
          <pc:chgData name="Zhong Cheng Tiong" userId="20d9c5c8-5f41-4b91-8905-988546a819c4" providerId="ADAL" clId="{302E9C58-0F5A-5147-9FDD-2A71C8DB758C}" dt="2026-07-26T01:47:15.198" v="0"/>
          <pc:sldLayoutMkLst>
            <pc:docMk/>
            <pc:sldMasterMk cId="2209977519" sldId="2147483660"/>
            <pc:sldLayoutMk cId="3612223792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FE221-FE2D-3A4C-9301-316EB4D60B55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3F03-E972-A04C-B948-67FA076B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8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3086100"/>
            <a:ext cx="457200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None/>
            </a:pPr>
            <a:r>
              <a:rPr lang="en-GB" sz="1200" b="1" dirty="0"/>
              <a:t>SOURCES — Slide 1 problem statement</a:t>
            </a:r>
          </a:p>
          <a:p>
            <a:pPr marL="228600">
              <a:buNone/>
            </a:pPr>
            <a:r>
              <a:rPr lang="en-GB" sz="1100" dirty="0"/>
              <a:t>All online sources accessed 26 July 2026.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GB" sz="1100" b="1" dirty="0"/>
              <a:t>[1] Ministry of Manpower, Singapore. “Enhanced Measures to Reduce Heat Stress for Outdoor Workers.” Press release, 24 October 2023.</a:t>
            </a:r>
          </a:p>
          <a:p>
            <a:pPr marL="228600">
              <a:buNone/>
            </a:pPr>
            <a:r>
              <a:rPr lang="en-GB" sz="1100" dirty="0">
                <a:solidFill>
                  <a:srgbClr val="0B5D66"/>
                </a:solidFill>
              </a:rPr>
              <a:t>https://www.mom.gov.sg/newsroom/press-releases/2023/1024-enhanced-measures-to-reduce-heat-stress-for-outdoor-workers</a:t>
            </a:r>
          </a:p>
          <a:p>
            <a:pPr marL="228600">
              <a:buNone/>
            </a:pPr>
            <a:r>
              <a:rPr lang="en-GB" sz="1100" dirty="0"/>
              <a:t>Cited for: hourly WBGT monitoring during outdoor work; at least 10 minutes of shaded rest per hour for heavy physical work when WBGT is 32°C to below 33°C; at least 15 minutes per hour when WBGT is 33°C or above; encouragement of a buddy system for early recognition of heat-related illness.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GB" sz="1100" b="1" dirty="0"/>
              <a:t>[2] Ministry of Manpower, Singapore. “Revised Framework to Guide Employers and Protect Outdoor Workers Against Heat Stress.” Press release, 6 September 2024.</a:t>
            </a:r>
          </a:p>
          <a:p>
            <a:pPr marL="228600">
              <a:buNone/>
            </a:pPr>
            <a:r>
              <a:rPr lang="en-GB" sz="1100" dirty="0">
                <a:solidFill>
                  <a:srgbClr val="0B5D66"/>
                </a:solidFill>
              </a:rPr>
              <a:t>https://www.mom.gov.sg/newsroom/press-releases/2024/0906-revised-framework-to-guide-employers-and-protect-outdoor-workers-against-heat-stress</a:t>
            </a:r>
          </a:p>
          <a:p>
            <a:pPr marL="228600">
              <a:buNone/>
            </a:pPr>
            <a:r>
              <a:rPr lang="en-GB" sz="1100" dirty="0"/>
              <a:t>Cited for: alignment of the outdoor-worker framework with the three-tier Heat Stress Advisory; WBGT bands of below 31°C, 31°C to below 33°C, and 33°C or above; required and recommended measures applicable at each band.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GB" sz="1100" b="1" dirty="0"/>
              <a:t>[3] Ministry of Manpower, Singapore. “Heat Stress Measures for Outdoor Work.” Framework infographic, current version.</a:t>
            </a:r>
          </a:p>
          <a:p>
            <a:pPr marL="228600">
              <a:buNone/>
            </a:pPr>
            <a:r>
              <a:rPr lang="en-GB" sz="1100" dirty="0">
                <a:solidFill>
                  <a:srgbClr val="0B5D66"/>
                </a:solidFill>
              </a:rPr>
              <a:t>https://www.mom.gov.sg/-/media/mom/documents/heat-stress-measures/heat-stress-framework-outdoor-workers.pdf</a:t>
            </a:r>
          </a:p>
          <a:p>
            <a:pPr marL="228600">
              <a:buNone/>
            </a:pPr>
            <a:r>
              <a:rPr lang="en-GB" sz="1100" dirty="0"/>
              <a:t>Cited for: acclimatisation, hydration, rest, shade and hourly WBGT monitoring measures; on-site WBGT-meter requirements for construction sites with contract sums of S$5 million or more, shipyards and the process industry; use of NEA’s myENV app by other workplaces.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GB" sz="1100" b="1" dirty="0"/>
              <a:t>[4] National Environment Agency and Ministry of Sustainability and the Environment, Singapore. “New Heat Stress Advisory Launched to Guide Public on Minimising Risk of Heat-Related Illnesses.” Joint news release, 24 July 2023; page updated 19 August 2025.</a:t>
            </a:r>
          </a:p>
          <a:p>
            <a:pPr marL="228600">
              <a:buNone/>
            </a:pPr>
            <a:r>
              <a:rPr lang="en-GB" sz="1100" dirty="0">
                <a:solidFill>
                  <a:srgbClr val="0B5D66"/>
                </a:solidFill>
              </a:rPr>
              <a:t>https://www.nea.gov.sg/media/news/news/index/new-heat-stress-advisory-launched-to-guide-public-on-minimising-risk-of-heat-related-illnesses</a:t>
            </a:r>
          </a:p>
          <a:p>
            <a:pPr marL="228600">
              <a:buNone/>
            </a:pPr>
            <a:r>
              <a:rPr lang="en-GB" sz="1100" dirty="0"/>
              <a:t>Cited for: availability of location-based Heat Stress Advisory information through the myENV app and weather information website; use of NEA’s WBGT sensor network; low, moderate and high heat-stress levels.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GB" sz="1100" b="1" dirty="0"/>
              <a:t>[5] Goei, Anne, Lucy Leong, and Joel Aik. “Urban Heat Exposure and Outdoor Occupational Heat-Related Illnesses in Singapore—A Nationwide Time-Stratified Case-Crossover Study.” Urban Climate 66 (2026): 102847.</a:t>
            </a:r>
          </a:p>
          <a:p>
            <a:pPr marL="228600">
              <a:buNone/>
            </a:pPr>
            <a:r>
              <a:rPr lang="en-GB" sz="1100" dirty="0">
                <a:solidFill>
                  <a:srgbClr val="0B5D66"/>
                </a:solidFill>
              </a:rPr>
              <a:t>https://doi.org/10.1016/j.uclim.2026.102847</a:t>
            </a:r>
          </a:p>
          <a:p>
            <a:pPr marL="228600">
              <a:buNone/>
            </a:pPr>
            <a:r>
              <a:rPr lang="en-GB" sz="1100" dirty="0"/>
              <a:t>Cited for: 41 reported outdoor occupational heat-related illness cases from 2009–2023, with 40 included in the regression analysis; 46.3% heat-exhaustion and 39.0% heat-stroke cases; slightly under two-thirds of cases from construction; slightly over two-thirds involving non-Singaporeans; associations between increases in temperature, humidity and reported heat-related illness.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GB" sz="1100" b="1" dirty="0"/>
              <a:t>[6] Workplace Safety and Health Council, Singapore. “Strengthening Workplace Preparedness for Heat Stress.” Announcement, 23 March 2026.</a:t>
            </a:r>
          </a:p>
          <a:p>
            <a:pPr marL="228600">
              <a:buNone/>
            </a:pPr>
            <a:r>
              <a:rPr lang="en-GB" sz="1100" dirty="0">
                <a:solidFill>
                  <a:srgbClr val="0B5D66"/>
                </a:solidFill>
              </a:rPr>
              <a:t>https://www.tal.sg/wshc/media/announcements/2026/strengthening-workplace-preparedness-for-heat-stress</a:t>
            </a:r>
          </a:p>
          <a:p>
            <a:pPr marL="228600">
              <a:buNone/>
            </a:pPr>
            <a:r>
              <a:rPr lang="en-GB" sz="1100" dirty="0"/>
              <a:t>Cited for: 29 high heat-stress days recorded in Singapore in 2025, compared with 21 in 2024. The announcement attributes these figures to Meteorological Service Singapore’s Singapore Climate 2025: The Year in Numbers.</a:t>
            </a:r>
          </a:p>
          <a:p>
            <a:pPr marL="228600" indent="-228600">
              <a:spcBef>
                <a:spcPts val="400"/>
              </a:spcBef>
              <a:buNone/>
            </a:pPr>
            <a:r>
              <a:rPr lang="en-GB" sz="1100" b="1" dirty="0"/>
              <a:t>[7] Ministry of Manpower, Singapore. “Written Answer to PQ on Heat Injuries.” Parliamentary question and reply, 9 May 2023; updated 14 March 2024.</a:t>
            </a:r>
          </a:p>
          <a:p>
            <a:pPr marL="228600">
              <a:buNone/>
            </a:pPr>
            <a:r>
              <a:rPr lang="en-GB" sz="1100" dirty="0">
                <a:solidFill>
                  <a:srgbClr val="0B5D66"/>
                </a:solidFill>
              </a:rPr>
              <a:t>https://www.mom.gov.sg/newsroom/parliament-questions-and-replies/2023/0509-written-answer-to-pq-on-heat-injuries</a:t>
            </a:r>
          </a:p>
          <a:p>
            <a:pPr marL="228600">
              <a:buNone/>
            </a:pPr>
            <a:r>
              <a:rPr lang="en-GB" sz="1100" dirty="0"/>
              <a:t>Cited for: targeted heat-stress inspections at 497 worksites in 2022 and enforcement action against 25 companies.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7008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WBGT CrewSafe 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6" y="786384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D6E6"/>
                </a:solidFill>
                <a:latin typeface="Calibri"/>
              </a:rPr>
              <a:t>Human-supervised heat-safety operations for small outdoor crews in Singapore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402336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1E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050" b="1">
                <a:solidFill>
                  <a:srgbClr val="C6D6E6"/>
                </a:solidFill>
                <a:latin typeface="Calibri"/>
              </a:rPr>
              <a:t>AD Project  ·  Sprint 0 Proposal  ·  Group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11183112" cy="457200"/>
          </a:xfrm>
          <a:prstGeom prst="roundRect">
            <a:avLst>
              <a:gd name="adj" fmla="val 30000"/>
            </a:avLst>
          </a:prstGeom>
          <a:solidFill>
            <a:srgbClr val="E4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5D66"/>
                </a:solidFill>
                <a:latin typeface="Calibri"/>
              </a:rPr>
              <a:t>Closed loop:   </a:t>
            </a:r>
            <a:r>
              <a:rPr sz="1200" b="1">
                <a:solidFill>
                  <a:srgbClr val="12283F"/>
                </a:solidFill>
                <a:latin typeface="Calibri"/>
              </a:rPr>
              <a:t>weather signal  →  ML forecast  →  MOM policy  →  supervisor approval  →  worker action  →  audit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2209800"/>
            <a:ext cx="111887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873A"/>
                </a:solidFill>
                <a:latin typeface="Calibri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581400"/>
            <a:ext cx="11188700" cy="788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dirty="0">
                <a:solidFill>
                  <a:srgbClr val="1A2733"/>
                </a:solidFill>
                <a:latin typeface="Calibri"/>
              </a:rPr>
              <a:t>WBGT CrewSafe SG turns Singapore's public NEA WBGT data into timely, MOM-aligned rest, hydration and task decisions for smaller outdoor crews such as landscaping, estate &amp; campus maintenance, outdoor cleaning and event setup teams that refer to myENV rather than an on-site meter, not the mandatory-meter sites (construction of S$5m or more, shipyards, process industry). NEA lightning-strike observations sit above the WBGT reading as an overriding stop-work hazard. A guarded AI agent drafts a plan from policy rules, the supervisor approves it, and workers acknowledge it on mobile, with every step recorded.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470400"/>
            <a:ext cx="111887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283F"/>
                </a:solidFill>
                <a:latin typeface="Calibri"/>
              </a:rPr>
              <a:t>VALUE TO STAKEHOLDERS</a:t>
            </a:r>
          </a:p>
        </p:txBody>
      </p:sp>
      <p:sp>
        <p:nvSpPr>
          <p:cNvPr id="15" name="Oval 14"/>
          <p:cNvSpPr/>
          <p:nvPr/>
        </p:nvSpPr>
        <p:spPr>
          <a:xfrm>
            <a:off x="508000" y="4965700"/>
            <a:ext cx="109728" cy="1097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2000" y="4851400"/>
            <a:ext cx="10858500" cy="198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1A2733"/>
                </a:solidFill>
                <a:latin typeface="Calibri"/>
              </a:rPr>
              <a:t>Outdoor workers:  </a:t>
            </a:r>
            <a:r>
              <a:rPr sz="1300" b="0" dirty="0">
                <a:solidFill>
                  <a:srgbClr val="465563"/>
                </a:solidFill>
                <a:latin typeface="Calibri"/>
              </a:rPr>
              <a:t>a simple rest and hydrate alert on their phone, confirmed with one tap. No wearables, no tracking.</a:t>
            </a:r>
          </a:p>
        </p:txBody>
      </p:sp>
      <p:sp>
        <p:nvSpPr>
          <p:cNvPr id="17" name="Oval 16"/>
          <p:cNvSpPr/>
          <p:nvPr/>
        </p:nvSpPr>
        <p:spPr>
          <a:xfrm>
            <a:off x="508000" y="5422900"/>
            <a:ext cx="109728" cy="1097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2000" y="5308600"/>
            <a:ext cx="10858500" cy="198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1A2733"/>
                </a:solidFill>
                <a:latin typeface="Calibri"/>
              </a:rPr>
              <a:t>Site supervisors:  </a:t>
            </a:r>
            <a:r>
              <a:rPr sz="1300" b="0" dirty="0">
                <a:solidFill>
                  <a:srgbClr val="465563"/>
                </a:solidFill>
                <a:latin typeface="Calibri"/>
              </a:rPr>
              <a:t>one screen shows the heat risk; approve the plan in seconds and see who has read it.</a:t>
            </a:r>
          </a:p>
        </p:txBody>
      </p:sp>
      <p:sp>
        <p:nvSpPr>
          <p:cNvPr id="19" name="Oval 18"/>
          <p:cNvSpPr/>
          <p:nvPr/>
        </p:nvSpPr>
        <p:spPr>
          <a:xfrm>
            <a:off x="508000" y="5880100"/>
            <a:ext cx="109728" cy="1097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2000" y="5765800"/>
            <a:ext cx="10858500" cy="198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1A2733"/>
                </a:solidFill>
                <a:latin typeface="Calibri"/>
              </a:rPr>
              <a:t>Safety managers:  </a:t>
            </a:r>
            <a:r>
              <a:rPr sz="1300" b="0" dirty="0">
                <a:solidFill>
                  <a:srgbClr val="465563"/>
                </a:solidFill>
                <a:latin typeface="Calibri"/>
              </a:rPr>
              <a:t>the same MOM rules applied every time, with a tamper proof record to show inspectors.</a:t>
            </a:r>
          </a:p>
        </p:txBody>
      </p:sp>
      <p:sp>
        <p:nvSpPr>
          <p:cNvPr id="21" name="Oval 20"/>
          <p:cNvSpPr/>
          <p:nvPr/>
        </p:nvSpPr>
        <p:spPr>
          <a:xfrm>
            <a:off x="508000" y="6337300"/>
            <a:ext cx="109728" cy="1097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2000" y="6223000"/>
            <a:ext cx="10858500" cy="1985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1A2733"/>
                </a:solidFill>
                <a:latin typeface="Calibri"/>
              </a:rPr>
              <a:t>Employer / operations:  </a:t>
            </a:r>
            <a:r>
              <a:rPr sz="1300" b="0" dirty="0">
                <a:solidFill>
                  <a:srgbClr val="465563"/>
                </a:solidFill>
                <a:latin typeface="Calibri"/>
              </a:rPr>
              <a:t>fewer heat illness incidents and less compliance risk, because action is taken and proven, not just seen.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08000" y="2463800"/>
            <a:ext cx="111887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lang="en-GB" sz="1200" b="0" dirty="0">
                <a:solidFill>
                  <a:srgbClr val="1A2733"/>
                </a:solidFill>
                <a:latin typeface="Calibri"/>
              </a:rPr>
              <a:t>Singapore's heat is intensifying — 29 high heat stress days in 2025, up from 21 in 2024</a:t>
            </a:r>
            <a:r>
              <a:rPr lang="en-GB" sz="1200" baseline="30000" dirty="0">
                <a:solidFill>
                  <a:srgbClr val="0B5D66"/>
                </a:solidFill>
                <a:latin typeface="Calibri"/>
              </a:rPr>
              <a:t> [6]</a:t>
            </a:r>
            <a:r>
              <a:rPr lang="en-GB" sz="1200" b="0" dirty="0">
                <a:solidFill>
                  <a:srgbClr val="1A2733"/>
                </a:solidFill>
                <a:latin typeface="Calibri"/>
              </a:rPr>
              <a:t> — and a 2026 nationwide study found that 85% of the 41 outdoor heat-illness cases reported to MOM from 2009 to 2023 were heat exhaustion or heat stroke, with under-reporting likely.</a:t>
            </a:r>
            <a:r>
              <a:rPr lang="en-GB" sz="1200" baseline="30000" dirty="0">
                <a:solidFill>
                  <a:srgbClr val="0B5D66"/>
                </a:solidFill>
                <a:latin typeface="Calibri"/>
              </a:rPr>
              <a:t>[5]</a:t>
            </a:r>
            <a:r>
              <a:rPr lang="en-GB" sz="1200" b="0" dirty="0">
                <a:solidFill>
                  <a:srgbClr val="1A2733"/>
                </a:solidFill>
                <a:latin typeface="Calibri"/>
              </a:rPr>
              <a:t> MOM requires hourly WBGT monitoring and shaded rest breaks of 10 to 15 minutes once WBGT reaches 32°C</a:t>
            </a:r>
            <a:r>
              <a:rPr lang="en-GB" sz="1200" baseline="30000" dirty="0">
                <a:solidFill>
                  <a:srgbClr val="0B5D66"/>
                </a:solidFill>
                <a:latin typeface="Calibri"/>
              </a:rPr>
              <a:t>[1][2]</a:t>
            </a:r>
            <a:r>
              <a:rPr lang="en-GB" sz="1200" b="0" dirty="0">
                <a:solidFill>
                  <a:srgbClr val="1A2733"/>
                </a:solidFill>
                <a:latin typeface="Calibri"/>
              </a:rPr>
              <a:t>, yet crews below the mandatory on-site meter threshold</a:t>
            </a:r>
            <a:r>
              <a:rPr lang="en-GB" sz="1200" baseline="30000" dirty="0">
                <a:solidFill>
                  <a:srgbClr val="0B5D66"/>
                </a:solidFill>
                <a:latin typeface="Calibri"/>
              </a:rPr>
              <a:t>[3]</a:t>
            </a:r>
            <a:r>
              <a:rPr lang="en-GB" sz="1200" b="0" dirty="0">
                <a:solidFill>
                  <a:srgbClr val="1A2733"/>
                </a:solidFill>
                <a:latin typeface="Calibri"/>
              </a:rPr>
              <a:t> check myENV by hand</a:t>
            </a:r>
            <a:r>
              <a:rPr lang="en-GB" sz="1200" baseline="30000" dirty="0">
                <a:solidFill>
                  <a:srgbClr val="0B5D66"/>
                </a:solidFill>
                <a:latin typeface="Calibri"/>
              </a:rPr>
              <a:t>[4]</a:t>
            </a:r>
            <a:r>
              <a:rPr lang="en-GB" sz="1200" b="0" dirty="0">
                <a:solidFill>
                  <a:srgbClr val="1A2733"/>
                </a:solidFill>
                <a:latin typeface="Calibri"/>
              </a:rPr>
              <a:t>: readings are missed, the right rest rule is applied unevenly, and little is recorded.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08000" y="3327400"/>
            <a:ext cx="111887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283F"/>
                </a:solidFill>
                <a:latin typeface="Calibri"/>
              </a:rPr>
              <a:t>PROJECT DESCRIPTION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508000" y="292100"/>
            <a:ext cx="571500" cy="571500"/>
          </a:xfrm>
          <a:prstGeom prst="roundRect">
            <a:avLst>
              <a:gd name="adj" fmla="val 18000"/>
            </a:avLst>
          </a:prstGeom>
          <a:solidFill>
            <a:srgbClr val="FBFAF8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endParaRPr lang="en-GB"/>
          </a:p>
        </p:txBody>
      </p:sp>
      <p:sp>
        <p:nvSpPr>
          <p:cNvPr id="220" name="Gauge Low"/>
          <p:cNvSpPr/>
          <p:nvPr/>
        </p:nvSpPr>
        <p:spPr>
          <a:xfrm>
            <a:off x="603250" y="381000"/>
            <a:ext cx="393700" cy="393700"/>
          </a:xfrm>
          <a:prstGeom prst="blockArc">
            <a:avLst>
              <a:gd name="adj1" fmla="val 8100000"/>
              <a:gd name="adj2" fmla="val 13500000"/>
              <a:gd name="adj3" fmla="val 34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1" name="Gauge Mid"/>
          <p:cNvSpPr/>
          <p:nvPr/>
        </p:nvSpPr>
        <p:spPr>
          <a:xfrm>
            <a:off x="603250" y="381000"/>
            <a:ext cx="393700" cy="393700"/>
          </a:xfrm>
          <a:prstGeom prst="blockArc">
            <a:avLst>
              <a:gd name="adj1" fmla="val 13500000"/>
              <a:gd name="adj2" fmla="val 18900000"/>
              <a:gd name="adj3" fmla="val 34000"/>
            </a:avLst>
          </a:prstGeom>
          <a:solidFill>
            <a:srgbClr val="E887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2" name="Gauge High"/>
          <p:cNvSpPr/>
          <p:nvPr/>
        </p:nvSpPr>
        <p:spPr>
          <a:xfrm>
            <a:off x="603250" y="381000"/>
            <a:ext cx="393700" cy="393700"/>
          </a:xfrm>
          <a:prstGeom prst="blockArc">
            <a:avLst>
              <a:gd name="adj1" fmla="val 18900000"/>
              <a:gd name="adj2" fmla="val 24300000"/>
              <a:gd name="adj3" fmla="val 34000"/>
            </a:avLst>
          </a:pr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3" name="Gauge Needle"/>
          <p:cNvSpPr/>
          <p:nvPr/>
        </p:nvSpPr>
        <p:spPr>
          <a:xfrm>
            <a:off x="784860" y="425450"/>
            <a:ext cx="30480" cy="152400"/>
          </a:xfrm>
          <a:prstGeom prst="rect">
            <a:avLst/>
          </a:prstGeom>
          <a:solidFill>
            <a:srgbClr val="12283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4" name="Gauge Hub"/>
          <p:cNvSpPr/>
          <p:nvPr/>
        </p:nvSpPr>
        <p:spPr>
          <a:xfrm>
            <a:off x="762000" y="539750"/>
            <a:ext cx="76200" cy="76200"/>
          </a:xfrm>
          <a:prstGeom prst="ellipse">
            <a:avLst/>
          </a:prstGeom>
          <a:solidFill>
            <a:srgbClr val="12283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083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12191695" cy="54864"/>
          </a:xfrm>
          <a:prstGeom prst="rect">
            <a:avLst/>
          </a:prstGeom>
          <a:solidFill>
            <a:srgbClr val="E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7008" y="274320"/>
            <a:ext cx="78638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dirty="0">
                <a:solidFill>
                  <a:srgbClr val="FFFFFF"/>
                </a:solidFill>
                <a:latin typeface="Segoe UI Semibold"/>
              </a:rPr>
              <a:t>Use Case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6" y="786384"/>
            <a:ext cx="8229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dirty="0">
                <a:solidFill>
                  <a:srgbClr val="C6D6E6"/>
                </a:solidFill>
                <a:latin typeface="Calibri"/>
              </a:rPr>
              <a:t>Actors and system use cases for WBGT CrewSafe 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700" y="1676400"/>
            <a:ext cx="508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dirty="0">
                <a:solidFill>
                  <a:srgbClr val="12283F"/>
                </a:solidFill>
                <a:latin typeface="Calibri"/>
              </a:rPr>
              <a:t>HIGH-LEVEL USE CASE DIAGRAM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850253D-E7E0-1A30-D8AD-3EF8763F5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399" y="1225296"/>
            <a:ext cx="5079999" cy="550341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1CEA2D4-F39C-BE5D-3F9C-B7BC099CD56D}"/>
              </a:ext>
            </a:extLst>
          </p:cNvPr>
          <p:cNvSpPr/>
          <p:nvPr/>
        </p:nvSpPr>
        <p:spPr>
          <a:xfrm>
            <a:off x="9829800" y="27432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1E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100" b="1">
                <a:solidFill>
                  <a:srgbClr val="C6D6E6"/>
                </a:solidFill>
                <a:latin typeface="Calibri"/>
              </a:rPr>
              <a:t>WBGT CrewSafe SG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08000" y="292100"/>
            <a:ext cx="571500" cy="571500"/>
          </a:xfrm>
          <a:prstGeom prst="roundRect">
            <a:avLst>
              <a:gd name="adj" fmla="val 18000"/>
            </a:avLst>
          </a:prstGeom>
          <a:solidFill>
            <a:srgbClr val="FBFAF8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endParaRPr lang="en-GB"/>
          </a:p>
        </p:txBody>
      </p:sp>
      <p:sp>
        <p:nvSpPr>
          <p:cNvPr id="230" name="Gauge Low"/>
          <p:cNvSpPr/>
          <p:nvPr/>
        </p:nvSpPr>
        <p:spPr>
          <a:xfrm>
            <a:off x="603250" y="381000"/>
            <a:ext cx="393700" cy="393700"/>
          </a:xfrm>
          <a:prstGeom prst="blockArc">
            <a:avLst>
              <a:gd name="adj1" fmla="val 8100000"/>
              <a:gd name="adj2" fmla="val 13500000"/>
              <a:gd name="adj3" fmla="val 34000"/>
            </a:avLst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1" name="Gauge Mid"/>
          <p:cNvSpPr/>
          <p:nvPr/>
        </p:nvSpPr>
        <p:spPr>
          <a:xfrm>
            <a:off x="603250" y="381000"/>
            <a:ext cx="393700" cy="393700"/>
          </a:xfrm>
          <a:prstGeom prst="blockArc">
            <a:avLst>
              <a:gd name="adj1" fmla="val 13500000"/>
              <a:gd name="adj2" fmla="val 18900000"/>
              <a:gd name="adj3" fmla="val 34000"/>
            </a:avLst>
          </a:prstGeom>
          <a:solidFill>
            <a:srgbClr val="E8873A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2" name="Gauge High"/>
          <p:cNvSpPr/>
          <p:nvPr/>
        </p:nvSpPr>
        <p:spPr>
          <a:xfrm>
            <a:off x="603250" y="381000"/>
            <a:ext cx="393700" cy="393700"/>
          </a:xfrm>
          <a:prstGeom prst="blockArc">
            <a:avLst>
              <a:gd name="adj1" fmla="val 18900000"/>
              <a:gd name="adj2" fmla="val 24300000"/>
              <a:gd name="adj3" fmla="val 34000"/>
            </a:avLst>
          </a:prstGeom>
          <a:solidFill>
            <a:srgbClr val="B3261E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3" name="Gauge Needle"/>
          <p:cNvSpPr/>
          <p:nvPr/>
        </p:nvSpPr>
        <p:spPr>
          <a:xfrm>
            <a:off x="784860" y="425450"/>
            <a:ext cx="30480" cy="152400"/>
          </a:xfrm>
          <a:prstGeom prst="rect">
            <a:avLst/>
          </a:prstGeom>
          <a:solidFill>
            <a:srgbClr val="12283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4" name="Gauge Hub"/>
          <p:cNvSpPr/>
          <p:nvPr/>
        </p:nvSpPr>
        <p:spPr>
          <a:xfrm>
            <a:off x="762000" y="539750"/>
            <a:ext cx="76200" cy="76200"/>
          </a:xfrm>
          <a:prstGeom prst="ellipse">
            <a:avLst/>
          </a:prstGeom>
          <a:solidFill>
            <a:srgbClr val="12283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31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E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dirty="0">
                <a:solidFill>
                  <a:srgbClr val="FFFFFF"/>
                </a:solidFill>
                <a:latin typeface="Segoe UI Semibold"/>
              </a:rPr>
              <a:t>Product 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0080"/>
            <a:ext cx="91440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6D6E6"/>
                </a:solidFill>
                <a:latin typeface="Calibri"/>
              </a:rPr>
              <a:t>Proposed features and the technologies behind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27432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1E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100" b="1">
                <a:solidFill>
                  <a:srgbClr val="C6D6E6"/>
                </a:solidFill>
                <a:latin typeface="Calibri"/>
              </a:rPr>
              <a:t>WBGT CrewSafe 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375" y="1152144"/>
            <a:ext cx="11253505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GB" sz="1100" b="1" dirty="0">
                <a:solidFill>
                  <a:srgbClr val="12283F"/>
                </a:solidFill>
                <a:latin typeface="Calibri"/>
              </a:rPr>
              <a:t>PRIORITISED PRODUCT BACKLOG   (10 Must-priority MVP stories of 36 · source: WBGT-CrewSafe-SG-Product-Backlog.xlsx › Product Backlog)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375" y="1463040"/>
            <a:ext cx="11184887" cy="368300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0165" y="1463040"/>
            <a:ext cx="552704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4378" y="1463040"/>
            <a:ext cx="4046907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Feature / user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970" y="1463040"/>
            <a:ext cx="436450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Key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45160" y="1463040"/>
            <a:ext cx="350294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35585" y="1463040"/>
            <a:ext cx="396296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Spr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375" y="1832304"/>
            <a:ext cx="11184887" cy="368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7613" y="1882597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D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000" b="1">
                <a:solidFill>
                  <a:srgbClr val="0B5D66"/>
                </a:solidFill>
                <a:latin typeface="Calibri"/>
              </a:rPr>
              <a:t>Must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4378" y="1832304"/>
            <a:ext cx="4046907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733"/>
                </a:solidFill>
                <a:latin typeface="Calibri"/>
              </a:rPr>
              <a:t>Authenticate and see only my assigned 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5970" y="1931815"/>
            <a:ext cx="436450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24E"/>
                </a:solidFill>
                <a:latin typeface="Calibri"/>
              </a:rPr>
              <a:t>Amazon Cognito + JWT · Spring Security · React · React 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35370" y="1832304"/>
            <a:ext cx="46002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5794" y="1832304"/>
            <a:ext cx="506024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375" y="2196084"/>
            <a:ext cx="11184887" cy="5486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0375" y="2201570"/>
            <a:ext cx="11184887" cy="368300"/>
          </a:xfrm>
          <a:prstGeom prst="rect">
            <a:avLst/>
          </a:prstGeom>
          <a:solidFill>
            <a:srgbClr val="F7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7613" y="2251861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D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000" b="1">
                <a:solidFill>
                  <a:srgbClr val="0B5D66"/>
                </a:solidFill>
                <a:latin typeface="Calibri"/>
              </a:rPr>
              <a:t>Must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4378" y="2201570"/>
            <a:ext cx="4046907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733"/>
                </a:solidFill>
                <a:latin typeface="Calibri"/>
              </a:rPr>
              <a:t>Create a shift with workers, tasks and intensity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5970" y="2301081"/>
            <a:ext cx="436450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24E"/>
                </a:solidFill>
                <a:latin typeface="Calibri"/>
              </a:rPr>
              <a:t>React · MUI · Spring Boot · Spring Data JPA · 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5370" y="2201570"/>
            <a:ext cx="46002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5794" y="2201570"/>
            <a:ext cx="506024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375" y="2565349"/>
            <a:ext cx="11184887" cy="5486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0375" y="2570835"/>
            <a:ext cx="11184887" cy="368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7613" y="2621127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D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000" b="1">
                <a:solidFill>
                  <a:srgbClr val="0B5D66"/>
                </a:solidFill>
                <a:latin typeface="Calibri"/>
              </a:rPr>
              <a:t>Must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4378" y="2570835"/>
            <a:ext cx="4046907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733"/>
                </a:solidFill>
                <a:latin typeface="Calibri"/>
              </a:rPr>
              <a:t>Worker views shift and submits readiness flags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15970" y="2570835"/>
            <a:ext cx="436450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24E"/>
                </a:solidFill>
                <a:latin typeface="Calibri"/>
              </a:rPr>
              <a:t>React Native · Expo · Spring Boot · PostgreSQL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35370" y="2570835"/>
            <a:ext cx="46002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25794" y="2570835"/>
            <a:ext cx="506024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375" y="2934614"/>
            <a:ext cx="11184887" cy="5486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0375" y="2940099"/>
            <a:ext cx="11184887" cy="368300"/>
          </a:xfrm>
          <a:prstGeom prst="rect">
            <a:avLst/>
          </a:prstGeom>
          <a:solidFill>
            <a:srgbClr val="F7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37613" y="2990391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D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000" b="1">
                <a:solidFill>
                  <a:srgbClr val="0B5D66"/>
                </a:solidFill>
                <a:latin typeface="Calibri"/>
              </a:rPr>
              <a:t>Must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4378" y="2940099"/>
            <a:ext cx="4046907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733"/>
                </a:solidFill>
                <a:latin typeface="Calibri"/>
              </a:rPr>
              <a:t>Ingest and store WBGT / weather with freshness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970" y="2940099"/>
            <a:ext cx="436450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24E"/>
                </a:solidFill>
                <a:latin typeface="Calibri"/>
              </a:rPr>
              <a:t>Spring Boot scheduler · NEA data.gov.sg APIs · PostgreSQL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35370" y="2940099"/>
            <a:ext cx="46002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25794" y="2940099"/>
            <a:ext cx="506024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0375" y="3303879"/>
            <a:ext cx="11184887" cy="5486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00375" y="3309366"/>
            <a:ext cx="11184887" cy="368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7613" y="3359657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D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000" b="1">
                <a:solidFill>
                  <a:srgbClr val="0B5D66"/>
                </a:solidFill>
                <a:latin typeface="Calibri"/>
              </a:rPr>
              <a:t>Must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4378" y="3309366"/>
            <a:ext cx="4046907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733"/>
                </a:solidFill>
                <a:latin typeface="Calibri"/>
              </a:rPr>
              <a:t>Lightning stop-work warning shown above WBGT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15970" y="3309366"/>
            <a:ext cx="436450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24E"/>
                </a:solidFill>
                <a:latin typeface="Calibri"/>
              </a:rPr>
              <a:t>Spring Boot · NEA lightning API · React · React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35370" y="3309366"/>
            <a:ext cx="46002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5794" y="3309366"/>
            <a:ext cx="506024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0375" y="3673143"/>
            <a:ext cx="11184887" cy="5486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00375" y="3678630"/>
            <a:ext cx="11184887" cy="368300"/>
          </a:xfrm>
          <a:prstGeom prst="rect">
            <a:avLst/>
          </a:prstGeom>
          <a:solidFill>
            <a:srgbClr val="F7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37613" y="3728923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D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000" b="1">
                <a:solidFill>
                  <a:srgbClr val="0B5D66"/>
                </a:solidFill>
                <a:latin typeface="Calibri"/>
              </a:rPr>
              <a:t>Must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04378" y="3678630"/>
            <a:ext cx="4046907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733"/>
                </a:solidFill>
                <a:latin typeface="Calibri"/>
              </a:rPr>
              <a:t>Supervisor sees conditions and active shift context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15970" y="3678630"/>
            <a:ext cx="436450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24E"/>
                </a:solidFill>
                <a:latin typeface="Calibri"/>
              </a:rPr>
              <a:t>React · Chart.js · Server-Sent Events · Spring Boot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35370" y="3678630"/>
            <a:ext cx="46002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25794" y="3678630"/>
            <a:ext cx="506024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0375" y="4042409"/>
            <a:ext cx="11184887" cy="5486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00375" y="4047896"/>
            <a:ext cx="11184887" cy="368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37613" y="4098188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D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000" b="1">
                <a:solidFill>
                  <a:srgbClr val="0B5D66"/>
                </a:solidFill>
                <a:latin typeface="Calibri"/>
              </a:rPr>
              <a:t>Must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4378" y="4047896"/>
            <a:ext cx="4046907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733"/>
                </a:solidFill>
                <a:latin typeface="Calibri"/>
              </a:rPr>
              <a:t>System forecasts 30 / 60-minute WBGT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15970" y="4155101"/>
            <a:ext cx="436450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3424E"/>
                </a:solidFill>
                <a:latin typeface="Calibri"/>
              </a:rPr>
              <a:t>scikit-learn · HistGradientBoosting · Ridge / persistence baselines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35370" y="4047896"/>
            <a:ext cx="46002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25794" y="4047896"/>
            <a:ext cx="506024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0375" y="4411674"/>
            <a:ext cx="11184887" cy="5486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00375" y="4417161"/>
            <a:ext cx="11184887" cy="368300"/>
          </a:xfrm>
          <a:prstGeom prst="rect">
            <a:avLst/>
          </a:prstGeom>
          <a:solidFill>
            <a:srgbClr val="F7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37613" y="4467452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D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000" b="1">
                <a:solidFill>
                  <a:srgbClr val="0B5D66"/>
                </a:solidFill>
                <a:latin typeface="Calibri"/>
              </a:rPr>
              <a:t>Must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04378" y="4417161"/>
            <a:ext cx="4046907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733"/>
                </a:solidFill>
                <a:latin typeface="Calibri"/>
              </a:rPr>
              <a:t>Evaluate the correct deterministic policy actions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15970" y="4417161"/>
            <a:ext cx="436450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24E"/>
                </a:solidFill>
                <a:latin typeface="Calibri"/>
              </a:rPr>
              <a:t>Java 21 rules engine · PostgreSQL policy config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35370" y="4417161"/>
            <a:ext cx="46002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25794" y="4417161"/>
            <a:ext cx="506024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0375" y="4780940"/>
            <a:ext cx="11184887" cy="5486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00375" y="4786426"/>
            <a:ext cx="11184887" cy="368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37613" y="4836718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D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000" b="1">
                <a:solidFill>
                  <a:srgbClr val="0B5D66"/>
                </a:solidFill>
                <a:latin typeface="Calibri"/>
              </a:rPr>
              <a:t>Must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04378" y="4786426"/>
            <a:ext cx="4046907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733"/>
                </a:solidFill>
                <a:latin typeface="Calibri"/>
              </a:rPr>
              <a:t>Supervisor receives an explainable agent draft plan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15970" y="4885937"/>
            <a:ext cx="436450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24E"/>
                </a:solidFill>
                <a:latin typeface="Calibri"/>
              </a:rPr>
              <a:t>Python · FastAPI · LangChain / LangGraph · Bedrock · Pydantic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35370" y="4786426"/>
            <a:ext cx="46002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25794" y="4786426"/>
            <a:ext cx="506024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0375" y="5150205"/>
            <a:ext cx="11184887" cy="5486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00375" y="5155692"/>
            <a:ext cx="11184887" cy="368300"/>
          </a:xfrm>
          <a:prstGeom prst="rect">
            <a:avLst/>
          </a:prstGeom>
          <a:solidFill>
            <a:srgbClr val="F7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37613" y="5205983"/>
            <a:ext cx="479552" cy="226771"/>
          </a:xfrm>
          <a:prstGeom prst="roundRect">
            <a:avLst>
              <a:gd name="adj" fmla="val 50000"/>
            </a:avLst>
          </a:prstGeom>
          <a:solidFill>
            <a:srgbClr val="DC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000" b="1">
                <a:solidFill>
                  <a:srgbClr val="0B5D66"/>
                </a:solidFill>
                <a:latin typeface="Calibri"/>
              </a:rPr>
              <a:t>Must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04378" y="5155692"/>
            <a:ext cx="4046907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733"/>
                </a:solidFill>
                <a:latin typeface="Calibri"/>
              </a:rPr>
              <a:t>Supervisor approves, edits or rejects a plan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15970" y="5155692"/>
            <a:ext cx="436450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3424E"/>
                </a:solidFill>
                <a:latin typeface="Calibri"/>
              </a:rPr>
              <a:t>React · Spring Boot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35370" y="5155692"/>
            <a:ext cx="460022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25794" y="5155692"/>
            <a:ext cx="506024" cy="368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A2733"/>
                </a:solidFill>
                <a:latin typeface="Calibri"/>
              </a:rP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0375" y="5519470"/>
            <a:ext cx="11184887" cy="5486"/>
          </a:xfrm>
          <a:prstGeom prst="rect">
            <a:avLst/>
          </a:prstGeom>
          <a:solidFill>
            <a:srgbClr val="E3DE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500375" y="5499100"/>
            <a:ext cx="11184887" cy="990600"/>
          </a:xfrm>
          <a:prstGeom prst="roundRect">
            <a:avLst>
              <a:gd name="adj" fmla="val 10000"/>
            </a:avLst>
          </a:prstGeom>
          <a:solidFill>
            <a:srgbClr val="E4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47403" y="5549900"/>
            <a:ext cx="10718279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1" dirty="0">
                <a:solidFill>
                  <a:srgbClr val="0B5D66"/>
                </a:solidFill>
                <a:latin typeface="Calibri"/>
              </a:rPr>
              <a:t>Cross-cutting · Cloud (F-19):  </a:t>
            </a:r>
            <a:r>
              <a:rPr lang="en-GB" sz="1000" b="0" dirty="0">
                <a:solidFill>
                  <a:srgbClr val="1A2733"/>
                </a:solidFill>
                <a:latin typeface="Calibri"/>
              </a:rPr>
              <a:t>AWS via Terraform — CloudFront + private S3 · ECS Fargate/ALB · ECR · RDS · Cognito · Bedrock · EventBridge Scheduler · Secrets Manager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1" dirty="0">
                <a:solidFill>
                  <a:srgbClr val="0B5D66"/>
                </a:solidFill>
                <a:latin typeface="Calibri"/>
              </a:rPr>
              <a:t>DevSecOps (F-20):  </a:t>
            </a:r>
            <a:r>
              <a:rPr lang="en-GB" sz="1000" b="0" dirty="0">
                <a:solidFill>
                  <a:srgbClr val="1A2733"/>
                </a:solidFill>
                <a:latin typeface="Calibri"/>
              </a:rPr>
              <a:t>CI/CD build → test → scan → publish → deploy approved releases · app, dependency, secret, IaC &amp; container scanning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1" dirty="0">
                <a:solidFill>
                  <a:srgbClr val="0B5D66"/>
                </a:solidFill>
                <a:latin typeface="Calibri"/>
              </a:rPr>
              <a:t>AI observability (F-21):  </a:t>
            </a:r>
            <a:r>
              <a:rPr lang="en-GB" sz="1000" b="0" dirty="0">
                <a:solidFill>
                  <a:srgbClr val="1A2733"/>
                </a:solidFill>
                <a:latin typeface="Calibri"/>
              </a:rPr>
              <a:t>LangSmith · agent run tracing · plan-quality evaluation · tool-call monitoring · prompt testing (not the authoritative audit record)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1" dirty="0">
                <a:solidFill>
                  <a:srgbClr val="0B5D66"/>
                </a:solidFill>
                <a:latin typeface="Calibri"/>
              </a:rPr>
              <a:t>Observability &amp; health (F-26):  </a:t>
            </a:r>
            <a:r>
              <a:rPr lang="en-GB" sz="1000" b="0" dirty="0">
                <a:solidFill>
                  <a:srgbClr val="1A2733"/>
                </a:solidFill>
                <a:latin typeface="Calibri"/>
              </a:rPr>
              <a:t>structured JSON logs · correlation IDs · Spring Boot Actuator health checks · Amazon CloudWatch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1" dirty="0">
                <a:solidFill>
                  <a:srgbClr val="0B5D66"/>
                </a:solidFill>
                <a:latin typeface="Calibri"/>
              </a:rPr>
              <a:t>Security testing (F-27):  </a:t>
            </a:r>
            <a:r>
              <a:rPr lang="en-GB" sz="1000" b="0" dirty="0">
                <a:solidFill>
                  <a:srgbClr val="1A2733"/>
                </a:solidFill>
                <a:latin typeface="Calibri"/>
              </a:rPr>
              <a:t>OWASP-style tests — authz, injection, XSS, prompt injection, audit tamper · CI/CD scan evidence retained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000" b="1" dirty="0">
                <a:solidFill>
                  <a:srgbClr val="0B5D66"/>
                </a:solidFill>
                <a:latin typeface="Calibri"/>
              </a:rPr>
              <a:t>Accessibility &amp; performance (F-28):  </a:t>
            </a:r>
            <a:r>
              <a:rPr lang="en-GB" sz="1000" b="0" dirty="0">
                <a:solidFill>
                  <a:srgbClr val="1A2733"/>
                </a:solidFill>
                <a:latin typeface="Calibri"/>
              </a:rPr>
              <a:t>React + React Native · axe / Lighthouse · WCAG 2.1 AA basics · load testing to p95 latency</a:t>
            </a:r>
          </a:p>
        </p:txBody>
      </p:sp>
    </p:spTree>
    <p:extLst>
      <p:ext uri="{BB962C8B-B14F-4D97-AF65-F5344CB8AC3E}">
        <p14:creationId xmlns:p14="http://schemas.microsoft.com/office/powerpoint/2010/main" val="45905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2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E88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6012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Segoe UI Semibold"/>
              </a:rPr>
              <a:t>Prototype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0080"/>
            <a:ext cx="91440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6D6E6"/>
                </a:solidFill>
                <a:latin typeface="Calibri"/>
              </a:rPr>
              <a:t>Figma screens for the worker mobile app and the supervisor web 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27432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1E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400" tIns="0" rIns="25400" bIns="0" rtlCol="0" anchor="ctr"/>
          <a:lstStyle/>
          <a:p>
            <a:pPr algn="ctr"/>
            <a:r>
              <a:rPr sz="1100" b="1">
                <a:solidFill>
                  <a:srgbClr val="C6D6E6"/>
                </a:solidFill>
                <a:latin typeface="Calibri"/>
              </a:rPr>
              <a:t>WBGT CrewSafe SG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8000" y="1206500"/>
            <a:ext cx="635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283F"/>
                </a:solidFill>
                <a:latin typeface="Calibri"/>
              </a:rPr>
              <a:t>PROTOTYPE SCREENS   (Figma)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9900" y="1701800"/>
            <a:ext cx="1917700" cy="40513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88" descr="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39900"/>
            <a:ext cx="1841500" cy="397510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508000" y="5842000"/>
            <a:ext cx="18415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65563"/>
                </a:solidFill>
                <a:latin typeface="Calibri"/>
              </a:rPr>
              <a:t>Worker · readiness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565400" y="1701800"/>
            <a:ext cx="1917700" cy="40513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91" descr="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1739900"/>
            <a:ext cx="1841500" cy="397510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2603500" y="5842000"/>
            <a:ext cx="18415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65563"/>
                </a:solidFill>
                <a:latin typeface="Calibri"/>
              </a:rPr>
              <a:t>Worker · action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60900" y="3568700"/>
            <a:ext cx="3441700" cy="218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5" name="Picture 94" descr="w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606800"/>
            <a:ext cx="3365500" cy="210820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4699000" y="5842000"/>
            <a:ext cx="33655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65563"/>
                </a:solidFill>
                <a:latin typeface="Calibri"/>
              </a:rPr>
              <a:t>Supervisor · live board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80400" y="3568700"/>
            <a:ext cx="3441700" cy="218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w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500" y="3606800"/>
            <a:ext cx="3365500" cy="210820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318500" y="5842000"/>
            <a:ext cx="33655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65563"/>
                </a:solidFill>
                <a:latin typeface="Calibri"/>
              </a:rPr>
              <a:t>Supervisor · approve plan</a:t>
            </a:r>
          </a:p>
        </p:txBody>
      </p:sp>
    </p:spTree>
    <p:extLst>
      <p:ext uri="{BB962C8B-B14F-4D97-AF65-F5344CB8AC3E}">
        <p14:creationId xmlns:p14="http://schemas.microsoft.com/office/powerpoint/2010/main" val="3966039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5030435164]">
  <a:themeElements>
    <a:clrScheme name="Office">
      <a:dk1>
        <a:srgbClr val="12283F"/>
      </a:dk1>
      <a:lt1>
        <a:srgbClr val="FBFAF8"/>
      </a:lt1>
      <a:dk2>
        <a:srgbClr val="1E3A55"/>
      </a:dk2>
      <a:lt2>
        <a:srgbClr val="F7F4F0"/>
      </a:lt2>
      <a:accent1>
        <a:srgbClr val="12283F"/>
      </a:accent1>
      <a:accent2>
        <a:srgbClr val="E8873A"/>
      </a:accent2>
      <a:accent3>
        <a:srgbClr val="0E7C86"/>
      </a:accent3>
      <a:accent4>
        <a:srgbClr val="1E3A55"/>
      </a:accent4>
      <a:accent5>
        <a:srgbClr val="33424E"/>
      </a:accent5>
      <a:accent6>
        <a:srgbClr val="E3DED7"/>
      </a:accent6>
      <a:hlink>
        <a:srgbClr val="0000FF"/>
      </a:hlink>
      <a:folHlink>
        <a:srgbClr val="800080"/>
      </a:folHlink>
    </a:clrScheme>
    <a:fontScheme name="Office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7857F1-37FB-E84E-AFD3-D0350ED8370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5947ef1-68c3-4bbd-a98b-1f41019c06d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94b8bac-6b8a-4d6f-b3ea-d6cd0bd31481">
      <Terms xmlns="http://schemas.microsoft.com/office/infopath/2007/PartnerControls"/>
    </lcf76f155ced4ddcb4097134ff3c332f>
    <TaxCatchAll xmlns="30907331-fa7b-47a4-a8c3-1873a8c34a4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56DA5AE9AC2441B63A103C5980A3EE" ma:contentTypeVersion="11" ma:contentTypeDescription="Create a new document." ma:contentTypeScope="" ma:versionID="c8b6d4dcaeb6c498f5907edd7eea2fd0">
  <xsd:schema xmlns:xsd="http://www.w3.org/2001/XMLSchema" xmlns:xs="http://www.w3.org/2001/XMLSchema" xmlns:p="http://schemas.microsoft.com/office/2006/metadata/properties" xmlns:ns2="594b8bac-6b8a-4d6f-b3ea-d6cd0bd31481" xmlns:ns3="30907331-fa7b-47a4-a8c3-1873a8c34a49" targetNamespace="http://schemas.microsoft.com/office/2006/metadata/properties" ma:root="true" ma:fieldsID="253aa9b972eb4e8c7181f90efd80dc00" ns2:_="" ns3:_="">
    <xsd:import namespace="594b8bac-6b8a-4d6f-b3ea-d6cd0bd31481"/>
    <xsd:import namespace="30907331-fa7b-47a4-a8c3-1873a8c34a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4b8bac-6b8a-4d6f-b3ea-d6cd0bd314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ca7581-5256-458a-b218-643d952561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907331-fa7b-47a4-a8c3-1873a8c34a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a2cdde5-8a5e-4d21-b532-028244fd8e29}" ma:internalName="TaxCatchAll" ma:showField="CatchAllData" ma:web="30907331-fa7b-47a4-a8c3-1873a8c34a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B65E30-7203-4A53-B937-27C27E9EF9D4}">
  <ds:schemaRefs>
    <ds:schemaRef ds:uri="http://purl.org/dc/terms/"/>
    <ds:schemaRef ds:uri="http://purl.org/dc/dcmitype/"/>
    <ds:schemaRef ds:uri="594b8bac-6b8a-4d6f-b3ea-d6cd0bd31481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30907331-fa7b-47a4-a8c3-1873a8c34a49"/>
  </ds:schemaRefs>
</ds:datastoreItem>
</file>

<file path=customXml/itemProps2.xml><?xml version="1.0" encoding="utf-8"?>
<ds:datastoreItem xmlns:ds="http://schemas.openxmlformats.org/officeDocument/2006/customXml" ds:itemID="{5B17BE04-46D6-428F-88DA-39DBF49C35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3AF82F-AE2C-4B0A-873A-891CCBE887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4b8bac-6b8a-4d6f-b3ea-d6cd0bd31481"/>
    <ds:schemaRef ds:uri="30907331-fa7b-47a4-a8c3-1873a8c34a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1474</Words>
  <Application>Microsoft Macintosh PowerPoint</Application>
  <PresentationFormat>Widescreen</PresentationFormat>
  <Paragraphs>113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Segoe UI Semibold</vt:lpstr>
      <vt:lpstr>Office Theme [1785030435164]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Zhong Cheng Tiong</cp:lastModifiedBy>
  <cp:revision>2</cp:revision>
  <dcterms:created xsi:type="dcterms:W3CDTF">2013-01-27T09:14:16Z</dcterms:created>
  <dcterms:modified xsi:type="dcterms:W3CDTF">2026-07-26T02:15:19Z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0x0101005F56DA5AE9AC2441B63A103C5980A3EE</vt:lpwstr>
  </property>
  <property fmtid="{D5CDD505-2E9C-101B-9397-08002B2CF9AE}" pid="3" name="MediaServiceImageTags">
    <vt:lpwstr/>
  </property>
</Properties>
</file>
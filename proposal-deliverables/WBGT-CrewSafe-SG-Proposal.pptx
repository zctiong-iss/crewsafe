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9260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74320"/>
            <a:ext cx="7863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WBGT CrewSafe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786384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D6E6"/>
                </a:solidFill>
                <a:latin typeface="Calibri"/>
              </a:rPr>
              <a:t>Human-supervised heat-safety operations for small outdoor crews in Singapore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402336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2B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C6D6E6"/>
                </a:solidFill>
                <a:latin typeface="Calibri"/>
              </a:rPr>
              <a:t>AD Project  ·  Sprint 0 Proposal  ·  Group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11183112" cy="457200"/>
          </a:xfrm>
          <a:prstGeom prst="roundRect">
            <a:avLst>
              <a:gd name="adj" fmla="val 30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6FB0"/>
                </a:solidFill>
                <a:latin typeface="Calibri"/>
              </a:rPr>
              <a:t>Closed loop:   </a:t>
            </a:r>
            <a:r>
              <a:rPr sz="1200" b="1">
                <a:solidFill>
                  <a:srgbClr val="1A2733"/>
                </a:solidFill>
                <a:latin typeface="Calibri"/>
              </a:rPr>
              <a:t>weather signal  →  ML forecast  →  MOM policy  →  supervisor approval  →  worker action  →  audit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12848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873A"/>
                </a:solidFill>
                <a:latin typeface="Calibri"/>
              </a:rPr>
              <a:t>PROJECT 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5989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2733"/>
                </a:solidFill>
                <a:latin typeface="Calibri"/>
              </a:rPr>
              <a:t>WBGT CrewSafe SG turns Singapore's public NEA WBGT data into timely, MOM-aligned rest, hydration and task decisions for crews (landscaping, estate &amp; campus maintenance, event setup) that refer to myENV instead of an on-site meter. NEA lightning-strike observations sit above the WBGT reading as an overriding stop-work hazard. A guarded AI agent drafts a plan from deterministic policy rules; the supervisor approves it; workers receive and acknowledge it on mobile — every step recorded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59936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873A"/>
                </a:solidFill>
                <a:latin typeface="Calibri"/>
              </a:rPr>
              <a:t>VALUE TO STAKEHOLDERS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53128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37083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Outdoor workers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clear one-tap instructions and acknowledgement — no wearables, no location tracking.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5001768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91947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Site supervisors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a live board that turns a heat signal into an approve-in-seconds decision, with proof of who received what.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5550407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546811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Safety managers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consistent MOM policy application plus an append-only audit trail as enforcement evidence.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6099047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6016751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Employer / operations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closes the gap between seeing a reading and proving action — lower heat-illness and compliance risk.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2212848"/>
            <a:ext cx="4873752" cy="4407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23591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6FB0"/>
                </a:solidFill>
                <a:latin typeface="Calibri"/>
              </a:rPr>
              <a:t>HIGH-LEVEL USE CASE DIAGRAM</a:t>
            </a:r>
          </a:p>
        </p:txBody>
      </p:sp>
      <p:pic>
        <p:nvPicPr>
          <p:cNvPr id="25" name="Picture 24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265" y="2724912"/>
            <a:ext cx="27417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54864"/>
          </a:xfrm>
          <a:prstGeom prst="rect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Product Backlog  &amp;  Prototype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C6D6E6"/>
                </a:solidFill>
                <a:latin typeface="Calibri"/>
              </a:rPr>
              <a:t>Proposed features, the technologies behind them, and Figma prototype screens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29800" y="27432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2B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C6D6E6"/>
                </a:solidFill>
                <a:latin typeface="Calibri"/>
              </a:rPr>
              <a:t>WBGT CrewSafe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873A"/>
                </a:solidFill>
                <a:latin typeface="Calibri"/>
              </a:rPr>
              <a:t>PRIORITISED PRODUCT BACKLOG   (extract — full 19-story backlog in the accompanying workbook)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452360" cy="327355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463040"/>
            <a:ext cx="55270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504" y="146304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Feature / user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4639" y="146304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Key technologies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2385" y="1463040"/>
            <a:ext cx="35029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2407" y="1463040"/>
            <a:ext cx="396296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Spr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90395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1840687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504" y="1790395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Authenticate &amp; site-scoped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4639" y="1790395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· React Native · Spring Security · JWT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9233" y="1790395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9255" y="1790395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1226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17750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2168042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504" y="211775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Ingest WBGT / weather with freshness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4639" y="211775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Spring Boot · NEA data.gov.sg API ·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9233" y="2117750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9255" y="2117750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43961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2445105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4360" y="2495397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504" y="2445105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Lightning stop-work warning above WBGT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4639" y="2445105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Spring Boot · NEA lightning API · React / React Native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9233" y="2445105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9255" y="2445105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76697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2772460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2822752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8504" y="277246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Forecast 30 / 60-min WBGT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4639" y="277246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Python · FastAPI · scikit-learn / XGBoost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89233" y="2772460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9255" y="2772460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09432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309981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4360" y="315010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38504" y="309981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Evaluate deterministic heat policy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44639" y="309981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Java 21 rules engine · PostgreSQL config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89233" y="309981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9255" y="309981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2168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3427171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94360" y="3477463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38504" y="3427171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Explainable agent draft plan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4639" y="3427171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Tool-calling LLM · JSON-schema guarded tools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89233" y="3427171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49255" y="3427171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374903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375452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94360" y="380481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8504" y="375452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Dispatch &amp; acknowledge worker action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4639" y="375452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Native · Spring Boot · idempotency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89233" y="375452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49255" y="375452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076395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081881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94360" y="4132173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8504" y="4081881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Compliance &amp; response-time dashboards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44639" y="4081881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· Chart.js · backend aggregation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89233" y="4081881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9255" y="4081881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403750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440923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94360" y="445952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8504" y="440923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Export audit timeline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44639" y="440923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Backend CSV / PDF · append-only audit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89233" y="440923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49255" y="440923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4731105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2920" y="4736592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94360" y="4786883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38504" y="4736592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Safe degraded (NEA / ML / LLM) mode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4639" y="4736592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Fallback adapters · persistence forecast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89233" y="4736592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49255" y="4736592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058460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2920" y="5191963"/>
            <a:ext cx="7452360" cy="676656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7512" y="5283403"/>
            <a:ext cx="71414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2E6FB0"/>
                </a:solidFill>
                <a:latin typeface="Calibri"/>
              </a:rPr>
              <a:t>Cross-cutting:   </a:t>
            </a:r>
            <a:r>
              <a:rPr sz="1000" b="0">
                <a:solidFill>
                  <a:srgbClr val="1A2733"/>
                </a:solidFill>
                <a:latin typeface="Calibri"/>
              </a:rPr>
              <a:t>Cloud — AWS Amplify Hosting (S3 + CloudFront) · ECS on Fargate · RDS for PostgreSQL · S3 · Secrets Manager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2E6FB0"/>
                </a:solidFill>
                <a:latin typeface="Calibri"/>
              </a:rPr>
              <a:t>DevSecOps — </a:t>
            </a:r>
            <a:r>
              <a:rPr sz="1000" b="0">
                <a:solidFill>
                  <a:srgbClr val="1A2733"/>
                </a:solidFill>
                <a:latin typeface="Calibri"/>
              </a:rPr>
              <a:t>GitHub Actions CI/CD · SAST + secret scan · dependency &amp; container scanning · security-remediation evidence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92440" y="115214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873A"/>
                </a:solidFill>
                <a:latin typeface="Calibri"/>
              </a:rPr>
              <a:t>PROTOTYPE SCREENS   (Figma)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60941" y="1783080"/>
            <a:ext cx="1068937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373" y="1810512"/>
            <a:ext cx="1014073" cy="219456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092440" y="4041648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Worker · readiness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431473" y="1783080"/>
            <a:ext cx="1068937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8905" y="1810512"/>
            <a:ext cx="1014073" cy="219456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62972" y="4041648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Worker · action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65008" y="4398264"/>
            <a:ext cx="1860804" cy="118357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w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425696"/>
            <a:ext cx="1805940" cy="112871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8092440" y="5590984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Supervisor · live board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35540" y="4398264"/>
            <a:ext cx="1860804" cy="118357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w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2972" y="4425696"/>
            <a:ext cx="1805940" cy="112871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0062972" y="5590984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Supervisor · approve 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
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4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WBGT CrewSafe 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78638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D6E6"/>
                </a:solidFill>
                <a:latin typeface="Calibri"/>
              </a:rPr>
              <a:t>Human-supervised heat-safety operations for small outdoor crews in Singapore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402336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2B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50" b="1">
                <a:solidFill>
                  <a:srgbClr val="C6D6E6"/>
                </a:solidFill>
                <a:latin typeface="Calibri"/>
              </a:rPr>
              <a:t>AD Project  ·  Sprint 0 Proposal  ·  Group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11183112" cy="457200"/>
          </a:xfrm>
          <a:prstGeom prst="roundRect">
            <a:avLst>
              <a:gd name="adj" fmla="val 3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Calibri"/>
              </a:rPr>
              <a:t>Closed loop:   </a:t>
            </a:r>
            <a:r>
              <a:rPr sz="1200" b="1">
                <a:solidFill>
                  <a:srgbClr val="1A2733"/>
                </a:solidFill>
                <a:latin typeface="Calibri"/>
              </a:rPr>
              <a:t>weather signal  →  ML forecast  →  MOM policy  →  supervisor approval  →  worker action  →  audit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873A"/>
                </a:solidFill>
                <a:latin typeface="Calibri"/>
              </a:rPr>
              <a:t>PROJECT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5989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WBGT CrewSafe SG turns Singapore's public NEA WBGT data into timely, MOM-aligned rest, hydration and task decisions for crews (landscaping, estate &amp; campus maintenance, event setup) that refer to myENV instead of an on-site meter. NEA lightning-strike observations sit above the WBGT reading as an overriding stop-work hazard. A guarded AI agent drafts a plan from deterministic policy rules; the supervisor approves it; workers receive and acknowledge it on mobile — every step recorded end-to-end.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59936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873A"/>
                </a:solidFill>
                <a:latin typeface="Calibri"/>
              </a:rPr>
              <a:t>VALUE TO STAKEHOLDERS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453128"/>
            <a:ext cx="109728" cy="109728"/>
          </a:xfrm>
          <a:prstGeom prst="ellipse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370832"/>
            <a:ext cx="5733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733"/>
                </a:solidFill>
                <a:latin typeface="Calibri"/>
              </a:rPr>
              <a:t>Outdoor workers  —  </a:t>
            </a:r>
            <a:r>
              <a:rPr sz="1150" b="0">
                <a:solidFill>
                  <a:srgbClr val="6B7A88"/>
                </a:solidFill>
                <a:latin typeface="Calibri"/>
              </a:rPr>
              <a:t>clear one-tap instructions and acknowledgement — no wearables, no location tracking.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001768"/>
            <a:ext cx="109728" cy="109728"/>
          </a:xfrm>
          <a:prstGeom prst="ellipse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4919472"/>
            <a:ext cx="5733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733"/>
                </a:solidFill>
                <a:latin typeface="Calibri"/>
              </a:rPr>
              <a:t>Site supervisors  —  </a:t>
            </a:r>
            <a:r>
              <a:rPr sz="1150" b="0">
                <a:solidFill>
                  <a:srgbClr val="6B7A88"/>
                </a:solidFill>
                <a:latin typeface="Calibri"/>
              </a:rPr>
              <a:t>a live board that turns a heat signal into an approve-in-seconds decision, with proof of who received what.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550407"/>
            <a:ext cx="109728" cy="109728"/>
          </a:xfrm>
          <a:prstGeom prst="ellipse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468112"/>
            <a:ext cx="5733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733"/>
                </a:solidFill>
                <a:latin typeface="Calibri"/>
              </a:rPr>
              <a:t>Safety managers  —  </a:t>
            </a:r>
            <a:r>
              <a:rPr sz="1150" b="0">
                <a:solidFill>
                  <a:srgbClr val="6B7A88"/>
                </a:solidFill>
                <a:latin typeface="Calibri"/>
              </a:rPr>
              <a:t>consistent MOM policy application plus an append-only audit trail as enforcement evidence.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6099047"/>
            <a:ext cx="109728" cy="109728"/>
          </a:xfrm>
          <a:prstGeom prst="ellipse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6016751"/>
            <a:ext cx="5733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733"/>
                </a:solidFill>
                <a:latin typeface="Calibri"/>
              </a:rPr>
              <a:t>Employer / operations  —  </a:t>
            </a:r>
            <a:r>
              <a:rPr sz="1150" b="0">
                <a:solidFill>
                  <a:srgbClr val="6B7A88"/>
                </a:solidFill>
                <a:latin typeface="Calibri"/>
              </a:rPr>
              <a:t>closes the gap between seeing a reading and proving action — lower heat-illness and compliance risk.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212848"/>
            <a:ext cx="4873752" cy="4407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8312" y="235915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Calibri"/>
              </a:rPr>
              <a:t>HIGH-LEVEL USE CASE DIAGRAM</a:t>
            </a:r>
          </a:p>
        </p:txBody>
      </p:sp>
      <p:pic>
        <p:nvPicPr>
          <p:cNvPr id="25" name="Picture 24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265" y="2724912"/>
            <a:ext cx="27417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Product Backlog  &amp;  Prototype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00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6D6E6"/>
                </a:solidFill>
                <a:latin typeface="Calibri"/>
              </a:rPr>
              <a:t>Proposed features, the technologies behind them, and Figma prototype screens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743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B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100" b="1">
                <a:solidFill>
                  <a:srgbClr val="C6D6E6"/>
                </a:solidFill>
                <a:latin typeface="Calibri"/>
              </a:rPr>
              <a:t>WBGT CrewSafe 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873A"/>
                </a:solidFill>
                <a:latin typeface="Calibri"/>
              </a:rPr>
              <a:t>PRIORITISED PRODUCT BACKLOG   (extract — full 19-story backlog in the accompanying workbook)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452360" cy="327355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463040"/>
            <a:ext cx="55270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504" y="1463040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Feature / user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4639" y="1463040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Key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2385" y="1463040"/>
            <a:ext cx="35029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2407" y="1463040"/>
            <a:ext cx="396296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90395"/>
            <a:ext cx="7452360" cy="327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" y="1840687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504" y="1790395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Authenticate &amp; site-scoped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4639" y="1790395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React · React Native · Spring Security ·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9233" y="1790395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9255" y="1790395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12264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2117750"/>
            <a:ext cx="7452360" cy="32735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2168042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504" y="2117750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Ingest WBGT / weather with freshness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4639" y="2117750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Spring Boot · NEA data.gov.sg API ·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9233" y="2117750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9255" y="2117750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439619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2445105"/>
            <a:ext cx="7452360" cy="327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2495397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504" y="2445105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Lightning stop-work warning above WBGT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4639" y="2445105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Spring Boot · NEA lightning API · React / React 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9233" y="2445105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9255" y="2445105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766974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2772460"/>
            <a:ext cx="7452360" cy="32735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94360" y="2822752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8504" y="2772460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Forecast 30 / 60-min WBGT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4639" y="2772460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Python · FastAPI · scikit-learn / XGBoost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9233" y="2772460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9255" y="2772460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094329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2920" y="3099816"/>
            <a:ext cx="7452360" cy="327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94360" y="3150108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8504" y="3099816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Evaluate deterministic heat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44639" y="3099816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Java 21 rules engine · PostgreSQL config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9233" y="3099816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9255" y="3099816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421684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2920" y="3427171"/>
            <a:ext cx="7452360" cy="32735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94360" y="3477463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8504" y="3427171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Explainable agent draft 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4639" y="3427171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Tool-calling LLM · JSON-schema guarded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9233" y="3427171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9255" y="3427171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749039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2920" y="3754526"/>
            <a:ext cx="7452360" cy="327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94360" y="3804818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8504" y="3754526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Dispatch &amp; acknowledge worker 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44639" y="3754526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React Native · Spring Boot · idempotency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9233" y="3754526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49255" y="3754526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076395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2920" y="4081881"/>
            <a:ext cx="7452360" cy="32735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94360" y="4132173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8504" y="4081881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Compliance &amp; response-time dashboards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4639" y="4081881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React · Chart.js · backend aggregation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9233" y="4081881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49255" y="4081881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403750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2920" y="4409236"/>
            <a:ext cx="7452360" cy="3273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594360" y="4459528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8504" y="4409236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Export audit timeline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44639" y="4409236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Backend CSV / PDF · append-only audit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89233" y="4409236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49255" y="4409236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4731105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02920" y="4736592"/>
            <a:ext cx="7452360" cy="327355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94360" y="4786883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850" b="1">
                <a:solidFill>
                  <a:srgbClr val="2E7D46"/>
                </a:solidFill>
                <a:latin typeface="Calibri"/>
              </a:rPr>
              <a:t>Must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38504" y="4736592"/>
            <a:ext cx="269640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1A2733"/>
                </a:solidFill>
                <a:latin typeface="Calibri"/>
              </a:rPr>
              <a:t>Safe degraded (NEA / ML / LLM) mode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44639" y="4736592"/>
            <a:ext cx="2908017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A88"/>
                </a:solidFill>
                <a:latin typeface="Calibri"/>
              </a:rPr>
              <a:t>Fallback adapters · persistence forecast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89233" y="4736592"/>
            <a:ext cx="460022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49255" y="4736592"/>
            <a:ext cx="506024" cy="327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2733"/>
                </a:solidFill>
                <a:latin typeface="Calibri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5058460"/>
            <a:ext cx="7452360" cy="5486"/>
          </a:xfrm>
          <a:prstGeom prst="rect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502920" y="5191963"/>
            <a:ext cx="7452360" cy="676656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67512" y="5283403"/>
            <a:ext cx="7141464" cy="355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dirty="0">
                <a:solidFill>
                  <a:srgbClr val="2E6FB0"/>
                </a:solidFill>
                <a:latin typeface="Calibri"/>
              </a:rPr>
              <a:t>Cross-cutting:   </a:t>
            </a:r>
            <a:r>
              <a:rPr sz="1000" b="0" dirty="0">
                <a:solidFill>
                  <a:srgbClr val="1A2733"/>
                </a:solidFill>
                <a:latin typeface="Calibri"/>
              </a:rPr>
              <a:t>Cloud — AWS </a:t>
            </a:r>
            <a:r>
              <a:rPr lang="en-US" sz="1000" b="0" dirty="0">
                <a:solidFill>
                  <a:srgbClr val="1A2733"/>
                </a:solidFill>
                <a:latin typeface="Calibri"/>
              </a:rPr>
              <a:t>infra </a:t>
            </a:r>
            <a:r>
              <a:rPr lang="en-US" sz="1000" b="0">
                <a:solidFill>
                  <a:srgbClr val="1A2733"/>
                </a:solidFill>
                <a:latin typeface="Calibri"/>
              </a:rPr>
              <a:t>with Terraform </a:t>
            </a:r>
            <a:r>
              <a:rPr sz="1000" b="0">
                <a:solidFill>
                  <a:srgbClr val="1A2733"/>
                </a:solidFill>
                <a:latin typeface="Calibri"/>
              </a:rPr>
              <a:t>· </a:t>
            </a:r>
            <a:r>
              <a:rPr sz="1000" b="0" dirty="0">
                <a:solidFill>
                  <a:srgbClr val="1A2733"/>
                </a:solidFill>
                <a:latin typeface="Calibri"/>
              </a:rPr>
              <a:t>ECS on Fargate · RDS for PostgreSQL · S3 · Secrets Manager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dirty="0" err="1">
                <a:solidFill>
                  <a:srgbClr val="2E6FB0"/>
                </a:solidFill>
                <a:latin typeface="Calibri"/>
              </a:rPr>
              <a:t>DevSecOps</a:t>
            </a:r>
            <a:r>
              <a:rPr sz="1000" b="1" dirty="0">
                <a:solidFill>
                  <a:srgbClr val="2E6FB0"/>
                </a:solidFill>
                <a:latin typeface="Calibri"/>
              </a:rPr>
              <a:t> — </a:t>
            </a:r>
            <a:r>
              <a:rPr sz="1000" b="0" dirty="0">
                <a:solidFill>
                  <a:srgbClr val="1A2733"/>
                </a:solidFill>
                <a:latin typeface="Calibri"/>
              </a:rPr>
              <a:t>GitHub Actions CI/CD · SAST + secret scan · dependency &amp; container scanning · security-remediation evidence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115214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873A"/>
                </a:solidFill>
                <a:latin typeface="Calibri"/>
              </a:rPr>
              <a:t>PROTOTYPE SCREENS   (Figma)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60941" y="1783080"/>
            <a:ext cx="1068937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373" y="1810512"/>
            <a:ext cx="1014073" cy="219456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092440" y="4041648"/>
            <a:ext cx="18059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A88"/>
                </a:solidFill>
                <a:latin typeface="Calibri"/>
              </a:rPr>
              <a:t>Worker · readiness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31473" y="1783080"/>
            <a:ext cx="1068937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905" y="1810512"/>
            <a:ext cx="1014073" cy="219456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062972" y="4041648"/>
            <a:ext cx="18059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A88"/>
                </a:solidFill>
                <a:latin typeface="Calibri"/>
              </a:rPr>
              <a:t>Worker · action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65008" y="4398264"/>
            <a:ext cx="1860804" cy="11835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425696"/>
            <a:ext cx="1805940" cy="112871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8092440" y="5590984"/>
            <a:ext cx="18059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A88"/>
                </a:solidFill>
                <a:latin typeface="Calibri"/>
              </a:rPr>
              <a:t>Supervisor · live board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35540" y="4398264"/>
            <a:ext cx="1860804" cy="11835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w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972" y="4425696"/>
            <a:ext cx="1805940" cy="1128712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062972" y="5590984"/>
            <a:ext cx="18059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A88"/>
                </a:solidFill>
                <a:latin typeface="Calibri"/>
              </a:rPr>
              <a:t>Supervisor · approve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Macintosh PowerPoint</Application>
  <PresentationFormat>Widescreen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Zhong Cheng Tiong</cp:lastModifiedBy>
  <cp:revision>2</cp:revision>
  <dcterms:created xsi:type="dcterms:W3CDTF">2013-01-27T09:14:16Z</dcterms:created>
  <dcterms:modified xsi:type="dcterms:W3CDTF">2026-07-25T10:13:18Z</dcterms:modified>
  <cp:category/>
</cp:coreProperties>
</file>
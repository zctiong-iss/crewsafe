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F3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E88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292608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7432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07008" y="274320"/>
            <a:ext cx="7863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WBGT CrewSafe SG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25296" y="786384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C6D6E6"/>
                </a:solidFill>
                <a:latin typeface="Calibri"/>
              </a:rPr>
              <a:t>Human-supervised heat-safety operations for small outdoor crews in Singapore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52560" y="402336"/>
            <a:ext cx="2651760" cy="402336"/>
          </a:xfrm>
          <a:prstGeom prst="roundRect">
            <a:avLst>
              <a:gd name="adj" fmla="val 50000"/>
            </a:avLst>
          </a:prstGeom>
          <a:solidFill>
            <a:srgbClr val="2B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050" b="1">
                <a:solidFill>
                  <a:srgbClr val="C6D6E6"/>
                </a:solidFill>
                <a:latin typeface="Calibri"/>
              </a:rPr>
              <a:t>AD Project  ·  Sprint 0 Proposal  ·  Group 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81328"/>
            <a:ext cx="11183112" cy="457200"/>
          </a:xfrm>
          <a:prstGeom prst="roundRect">
            <a:avLst>
              <a:gd name="adj" fmla="val 30000"/>
            </a:avLst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81328"/>
            <a:ext cx="10881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2E6FB0"/>
                </a:solidFill>
                <a:latin typeface="Calibri"/>
              </a:rPr>
              <a:t>Closed loop:   </a:t>
            </a:r>
            <a:r>
              <a:rPr sz="1200" b="1">
                <a:solidFill>
                  <a:srgbClr val="1A2733"/>
                </a:solidFill>
                <a:latin typeface="Calibri"/>
              </a:rPr>
              <a:t>weather signal  →  ML forecast  →  MOM policy  →  supervisor approval  →  worker action  →  audit 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212848"/>
            <a:ext cx="5989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E8873A"/>
                </a:solidFill>
                <a:latin typeface="Calibri"/>
              </a:rPr>
              <a:t>PROJECT DESCRIPTION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505456"/>
            <a:ext cx="5989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A2733"/>
                </a:solidFill>
                <a:latin typeface="Calibri"/>
              </a:rPr>
              <a:t>WBGT CrewSafe SG turns Singapore's public NEA WBGT data into timely, MOM-aligned rest, hydration and task decisions for crews (landscaping, estate &amp; campus maintenance, event setup) that refer to myENV instead of an on-site meter. A guarded AI agent drafts a plan from deterministic policy rules; the supervisor approves it; workers receive and acknowledge it on mobile — every step recorded end-to-end.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059936"/>
            <a:ext cx="5989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E8873A"/>
                </a:solidFill>
                <a:latin typeface="Calibri"/>
              </a:rPr>
              <a:t>VALUE TO STAKEHOLDERS</a:t>
            </a:r>
          </a:p>
        </p:txBody>
      </p:sp>
      <p:sp>
        <p:nvSpPr>
          <p:cNvPr id="15" name="Oval 14"/>
          <p:cNvSpPr/>
          <p:nvPr/>
        </p:nvSpPr>
        <p:spPr>
          <a:xfrm>
            <a:off x="502920" y="4453128"/>
            <a:ext cx="109728" cy="109728"/>
          </a:xfrm>
          <a:prstGeom prst="ellipse">
            <a:avLst/>
          </a:prstGeom>
          <a:solidFill>
            <a:srgbClr val="E88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952" y="4370832"/>
            <a:ext cx="5733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A2733"/>
                </a:solidFill>
                <a:latin typeface="Calibri"/>
              </a:rPr>
              <a:t>Outdoor workers  —  </a:t>
            </a:r>
            <a:r>
              <a:rPr sz="1150" b="0">
                <a:solidFill>
                  <a:srgbClr val="6B7A88"/>
                </a:solidFill>
                <a:latin typeface="Calibri"/>
              </a:rPr>
              <a:t>clear one-tap instructions and acknowledgement — no wearables, no location tracking.</a:t>
            </a:r>
          </a:p>
        </p:txBody>
      </p:sp>
      <p:sp>
        <p:nvSpPr>
          <p:cNvPr id="17" name="Oval 16"/>
          <p:cNvSpPr/>
          <p:nvPr/>
        </p:nvSpPr>
        <p:spPr>
          <a:xfrm>
            <a:off x="502920" y="5001768"/>
            <a:ext cx="109728" cy="109728"/>
          </a:xfrm>
          <a:prstGeom prst="ellipse">
            <a:avLst/>
          </a:prstGeom>
          <a:solidFill>
            <a:srgbClr val="E88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" y="4919472"/>
            <a:ext cx="5733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A2733"/>
                </a:solidFill>
                <a:latin typeface="Calibri"/>
              </a:rPr>
              <a:t>Site supervisors  —  </a:t>
            </a:r>
            <a:r>
              <a:rPr sz="1150" b="0">
                <a:solidFill>
                  <a:srgbClr val="6B7A88"/>
                </a:solidFill>
                <a:latin typeface="Calibri"/>
              </a:rPr>
              <a:t>a live board that turns a heat signal into an approve-in-seconds decision, with proof of who received what.</a:t>
            </a:r>
          </a:p>
        </p:txBody>
      </p:sp>
      <p:sp>
        <p:nvSpPr>
          <p:cNvPr id="19" name="Oval 18"/>
          <p:cNvSpPr/>
          <p:nvPr/>
        </p:nvSpPr>
        <p:spPr>
          <a:xfrm>
            <a:off x="502920" y="5550407"/>
            <a:ext cx="109728" cy="109728"/>
          </a:xfrm>
          <a:prstGeom prst="ellipse">
            <a:avLst/>
          </a:prstGeom>
          <a:solidFill>
            <a:srgbClr val="E88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" y="5468112"/>
            <a:ext cx="5733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A2733"/>
                </a:solidFill>
                <a:latin typeface="Calibri"/>
              </a:rPr>
              <a:t>Safety managers  —  </a:t>
            </a:r>
            <a:r>
              <a:rPr sz="1150" b="0">
                <a:solidFill>
                  <a:srgbClr val="6B7A88"/>
                </a:solidFill>
                <a:latin typeface="Calibri"/>
              </a:rPr>
              <a:t>consistent MOM policy application plus an append-only audit trail as enforcement evidence.</a:t>
            </a:r>
          </a:p>
        </p:txBody>
      </p:sp>
      <p:sp>
        <p:nvSpPr>
          <p:cNvPr id="21" name="Oval 20"/>
          <p:cNvSpPr/>
          <p:nvPr/>
        </p:nvSpPr>
        <p:spPr>
          <a:xfrm>
            <a:off x="502920" y="6099047"/>
            <a:ext cx="109728" cy="109728"/>
          </a:xfrm>
          <a:prstGeom prst="ellipse">
            <a:avLst/>
          </a:prstGeom>
          <a:solidFill>
            <a:srgbClr val="E88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952" y="6016751"/>
            <a:ext cx="5733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A2733"/>
                </a:solidFill>
                <a:latin typeface="Calibri"/>
              </a:rPr>
              <a:t>Employer / operations  —  </a:t>
            </a:r>
            <a:r>
              <a:rPr sz="1150" b="0">
                <a:solidFill>
                  <a:srgbClr val="6B7A88"/>
                </a:solidFill>
                <a:latin typeface="Calibri"/>
              </a:rPr>
              <a:t>closes the gap between seeing a reading and proving action — lower heat-illness and compliance risk.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12280" y="2212848"/>
            <a:ext cx="4873752" cy="440740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1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68312" y="2359152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2E6FB0"/>
                </a:solidFill>
                <a:latin typeface="Calibri"/>
              </a:rPr>
              <a:t>HIGH-LEVEL USE CASE DIAGRAM</a:t>
            </a:r>
          </a:p>
        </p:txBody>
      </p:sp>
      <p:pic>
        <p:nvPicPr>
          <p:cNvPr id="25" name="Picture 24" descr="use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0519" y="2724912"/>
            <a:ext cx="3117272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54864"/>
          </a:xfrm>
          <a:prstGeom prst="rect">
            <a:avLst/>
          </a:prstGeom>
          <a:solidFill>
            <a:srgbClr val="E88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Product Backlog  &amp;  Prototype Screens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7" y="6400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C6D6E6"/>
                </a:solidFill>
                <a:latin typeface="Calibri"/>
              </a:rPr>
              <a:t>Proposed features, the technologies behind them, and Figma prototype screens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829800" y="274320"/>
            <a:ext cx="1874519" cy="384048"/>
          </a:xfrm>
          <a:prstGeom prst="roundRect">
            <a:avLst>
              <a:gd name="adj" fmla="val 50000"/>
            </a:avLst>
          </a:prstGeom>
          <a:solidFill>
            <a:srgbClr val="2B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100" b="1">
                <a:solidFill>
                  <a:srgbClr val="C6D6E6"/>
                </a:solidFill>
                <a:latin typeface="Calibri"/>
              </a:rPr>
              <a:t>WBGT CrewSafe SG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152144"/>
            <a:ext cx="74980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8873A"/>
                </a:solidFill>
                <a:latin typeface="Calibri"/>
              </a:rPr>
              <a:t>PRIORITISED PRODUCT BACKLOG   (extract — full 18-story backlog in the accompanying workbook)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7452360" cy="327355"/>
          </a:xfrm>
          <a:prstGeom prst="rect">
            <a:avLst/>
          </a:prstGeom>
          <a:solidFill>
            <a:srgbClr val="1F3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463040"/>
            <a:ext cx="552704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Calibri"/>
              </a:rPr>
              <a:t>Pri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8504" y="1463040"/>
            <a:ext cx="2696407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Calibri"/>
              </a:rPr>
              <a:t>Feature / user story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44639" y="1463040"/>
            <a:ext cx="2908017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Calibri"/>
              </a:rPr>
              <a:t>Key technologies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62385" y="1463040"/>
            <a:ext cx="350294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Calibri"/>
              </a:rPr>
              <a:t>Pts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22407" y="1463040"/>
            <a:ext cx="396296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Calibri"/>
              </a:rPr>
              <a:t>Spr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1790395"/>
            <a:ext cx="7452360" cy="32735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94360" y="1840687"/>
            <a:ext cx="479552" cy="226771"/>
          </a:xfrm>
          <a:prstGeom prst="roundRect">
            <a:avLst>
              <a:gd name="adj" fmla="val 50000"/>
            </a:avLst>
          </a:prstGeom>
          <a:solidFill>
            <a:srgbClr val="E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2E7D46"/>
                </a:solidFill>
                <a:latin typeface="Calibri"/>
              </a:rPr>
              <a:t>Must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8504" y="1790395"/>
            <a:ext cx="2696407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1A2733"/>
                </a:solidFill>
                <a:latin typeface="Calibri"/>
              </a:rPr>
              <a:t>Authenticate &amp; site-scoped access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44639" y="1790395"/>
            <a:ext cx="2908017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6B7A88"/>
                </a:solidFill>
                <a:latin typeface="Calibri"/>
              </a:rPr>
              <a:t>React · React Native · Spring Security · JWT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89233" y="1790395"/>
            <a:ext cx="460022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A2733"/>
                </a:solidFill>
                <a:latin typeface="Calibr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49255" y="1790395"/>
            <a:ext cx="506024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A2733"/>
                </a:solidFill>
                <a:latin typeface="Calibri"/>
              </a:rPr>
              <a:t>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112264"/>
            <a:ext cx="7452360" cy="5486"/>
          </a:xfrm>
          <a:prstGeom prst="rect">
            <a:avLst/>
          </a:prstGeom>
          <a:solidFill>
            <a:srgbClr val="E1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2117750"/>
            <a:ext cx="7452360" cy="32735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2168042"/>
            <a:ext cx="479552" cy="226771"/>
          </a:xfrm>
          <a:prstGeom prst="roundRect">
            <a:avLst>
              <a:gd name="adj" fmla="val 50000"/>
            </a:avLst>
          </a:prstGeom>
          <a:solidFill>
            <a:srgbClr val="E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2E7D46"/>
                </a:solidFill>
                <a:latin typeface="Calibri"/>
              </a:rPr>
              <a:t>Must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8504" y="2117750"/>
            <a:ext cx="2696407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1A2733"/>
                </a:solidFill>
                <a:latin typeface="Calibri"/>
              </a:rPr>
              <a:t>Ingest WBGT / weather with freshness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44639" y="2117750"/>
            <a:ext cx="2908017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6B7A88"/>
                </a:solidFill>
                <a:latin typeface="Calibri"/>
              </a:rPr>
              <a:t>Spring Boot · NEA data.gov.sg API · PostgreSQL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89233" y="2117750"/>
            <a:ext cx="460022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A2733"/>
                </a:solidFill>
                <a:latin typeface="Calibri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49255" y="2117750"/>
            <a:ext cx="506024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A2733"/>
                </a:solidFill>
                <a:latin typeface="Calibri"/>
              </a:rPr>
              <a:t>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2439619"/>
            <a:ext cx="7452360" cy="5486"/>
          </a:xfrm>
          <a:prstGeom prst="rect">
            <a:avLst/>
          </a:prstGeom>
          <a:solidFill>
            <a:srgbClr val="E1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2445105"/>
            <a:ext cx="7452360" cy="32735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94360" y="2495397"/>
            <a:ext cx="479552" cy="226771"/>
          </a:xfrm>
          <a:prstGeom prst="roundRect">
            <a:avLst>
              <a:gd name="adj" fmla="val 50000"/>
            </a:avLst>
          </a:prstGeom>
          <a:solidFill>
            <a:srgbClr val="E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2E7D46"/>
                </a:solidFill>
                <a:latin typeface="Calibri"/>
              </a:rPr>
              <a:t>Must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8504" y="2445105"/>
            <a:ext cx="2696407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1A2733"/>
                </a:solidFill>
                <a:latin typeface="Calibri"/>
              </a:rPr>
              <a:t>Forecast 30 / 60-min WBGT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44639" y="2445105"/>
            <a:ext cx="2908017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6B7A88"/>
                </a:solidFill>
                <a:latin typeface="Calibri"/>
              </a:rPr>
              <a:t>Python · FastAPI · scikit-learn / XGBoost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89233" y="2445105"/>
            <a:ext cx="460022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A2733"/>
                </a:solidFill>
                <a:latin typeface="Calibri"/>
              </a:rPr>
              <a:t>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49255" y="2445105"/>
            <a:ext cx="506024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A2733"/>
                </a:solidFill>
                <a:latin typeface="Calibri"/>
              </a:rPr>
              <a:t>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2766974"/>
            <a:ext cx="7452360" cy="5486"/>
          </a:xfrm>
          <a:prstGeom prst="rect">
            <a:avLst/>
          </a:prstGeom>
          <a:solidFill>
            <a:srgbClr val="E1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2772460"/>
            <a:ext cx="7452360" cy="32735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94360" y="2822752"/>
            <a:ext cx="479552" cy="226771"/>
          </a:xfrm>
          <a:prstGeom prst="roundRect">
            <a:avLst>
              <a:gd name="adj" fmla="val 50000"/>
            </a:avLst>
          </a:prstGeom>
          <a:solidFill>
            <a:srgbClr val="E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2E7D46"/>
                </a:solidFill>
                <a:latin typeface="Calibri"/>
              </a:rPr>
              <a:t>Must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38504" y="2772460"/>
            <a:ext cx="2696407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1A2733"/>
                </a:solidFill>
                <a:latin typeface="Calibri"/>
              </a:rPr>
              <a:t>Evaluate deterministic heat policy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44639" y="2772460"/>
            <a:ext cx="2908017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6B7A88"/>
                </a:solidFill>
                <a:latin typeface="Calibri"/>
              </a:rPr>
              <a:t>Java 21 rules engine · PostgreSQL config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89233" y="2772460"/>
            <a:ext cx="460022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A2733"/>
                </a:solidFill>
                <a:latin typeface="Calibri"/>
              </a:rPr>
              <a:t>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49255" y="2772460"/>
            <a:ext cx="506024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A2733"/>
                </a:solidFill>
                <a:latin typeface="Calibri"/>
              </a:rPr>
              <a:t>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3094329"/>
            <a:ext cx="7452360" cy="5486"/>
          </a:xfrm>
          <a:prstGeom prst="rect">
            <a:avLst/>
          </a:prstGeom>
          <a:solidFill>
            <a:srgbClr val="E1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2920" y="3099816"/>
            <a:ext cx="7452360" cy="32735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94360" y="3150108"/>
            <a:ext cx="479552" cy="226771"/>
          </a:xfrm>
          <a:prstGeom prst="roundRect">
            <a:avLst>
              <a:gd name="adj" fmla="val 50000"/>
            </a:avLst>
          </a:prstGeom>
          <a:solidFill>
            <a:srgbClr val="E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2E7D46"/>
                </a:solidFill>
                <a:latin typeface="Calibri"/>
              </a:rPr>
              <a:t>Must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38504" y="3099816"/>
            <a:ext cx="2696407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1A2733"/>
                </a:solidFill>
                <a:latin typeface="Calibri"/>
              </a:rPr>
              <a:t>Explainable agent draft plan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44639" y="3099816"/>
            <a:ext cx="2908017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6B7A88"/>
                </a:solidFill>
                <a:latin typeface="Calibri"/>
              </a:rPr>
              <a:t>Tool-calling LLM · JSON-schema guarded tools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89233" y="3099816"/>
            <a:ext cx="460022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A2733"/>
                </a:solidFill>
                <a:latin typeface="Calibri"/>
              </a:rPr>
              <a:t>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49255" y="3099816"/>
            <a:ext cx="506024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A2733"/>
                </a:solidFill>
                <a:latin typeface="Calibri"/>
              </a:rPr>
              <a:t>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3421684"/>
            <a:ext cx="7452360" cy="5486"/>
          </a:xfrm>
          <a:prstGeom prst="rect">
            <a:avLst/>
          </a:prstGeom>
          <a:solidFill>
            <a:srgbClr val="E1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02920" y="3427171"/>
            <a:ext cx="7452360" cy="32735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94360" y="3477463"/>
            <a:ext cx="479552" cy="226771"/>
          </a:xfrm>
          <a:prstGeom prst="roundRect">
            <a:avLst>
              <a:gd name="adj" fmla="val 50000"/>
            </a:avLst>
          </a:prstGeom>
          <a:solidFill>
            <a:srgbClr val="E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2E7D46"/>
                </a:solidFill>
                <a:latin typeface="Calibri"/>
              </a:rPr>
              <a:t>Must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238504" y="3427171"/>
            <a:ext cx="2696407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1A2733"/>
                </a:solidFill>
                <a:latin typeface="Calibri"/>
              </a:rPr>
              <a:t>Dispatch &amp; acknowledge worker action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044639" y="3427171"/>
            <a:ext cx="2908017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6B7A88"/>
                </a:solidFill>
                <a:latin typeface="Calibri"/>
              </a:rPr>
              <a:t>React Native · Spring Boot · idempotency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89233" y="3427171"/>
            <a:ext cx="460022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A2733"/>
                </a:solidFill>
                <a:latin typeface="Calibri"/>
              </a:rPr>
              <a:t>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49255" y="3427171"/>
            <a:ext cx="506024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A2733"/>
                </a:solidFill>
                <a:latin typeface="Calibri"/>
              </a:rPr>
              <a:t>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2920" y="3749039"/>
            <a:ext cx="7452360" cy="5486"/>
          </a:xfrm>
          <a:prstGeom prst="rect">
            <a:avLst/>
          </a:prstGeom>
          <a:solidFill>
            <a:srgbClr val="E1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2920" y="3754526"/>
            <a:ext cx="7452360" cy="32735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594360" y="3804818"/>
            <a:ext cx="479552" cy="226771"/>
          </a:xfrm>
          <a:prstGeom prst="roundRect">
            <a:avLst>
              <a:gd name="adj" fmla="val 50000"/>
            </a:avLst>
          </a:prstGeom>
          <a:solidFill>
            <a:srgbClr val="E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2E7D46"/>
                </a:solidFill>
                <a:latin typeface="Calibri"/>
              </a:rPr>
              <a:t>Must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38504" y="3754526"/>
            <a:ext cx="2696407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1A2733"/>
                </a:solidFill>
                <a:latin typeface="Calibri"/>
              </a:rPr>
              <a:t>Compliance &amp; response-time dashboards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044639" y="3754526"/>
            <a:ext cx="2908017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6B7A88"/>
                </a:solidFill>
                <a:latin typeface="Calibri"/>
              </a:rPr>
              <a:t>React · Chart.js · backend aggregation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989233" y="3754526"/>
            <a:ext cx="460022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A2733"/>
                </a:solidFill>
                <a:latin typeface="Calibri"/>
              </a:rPr>
              <a:t>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49255" y="3754526"/>
            <a:ext cx="506024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A2733"/>
                </a:solidFill>
                <a:latin typeface="Calibri"/>
              </a:rPr>
              <a:t>3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02920" y="4076395"/>
            <a:ext cx="7452360" cy="5486"/>
          </a:xfrm>
          <a:prstGeom prst="rect">
            <a:avLst/>
          </a:prstGeom>
          <a:solidFill>
            <a:srgbClr val="E1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02920" y="4081881"/>
            <a:ext cx="7452360" cy="32735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594360" y="4132173"/>
            <a:ext cx="479552" cy="226771"/>
          </a:xfrm>
          <a:prstGeom prst="roundRect">
            <a:avLst>
              <a:gd name="adj" fmla="val 50000"/>
            </a:avLst>
          </a:prstGeom>
          <a:solidFill>
            <a:srgbClr val="E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2E7D46"/>
                </a:solidFill>
                <a:latin typeface="Calibri"/>
              </a:rPr>
              <a:t>Must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238504" y="4081881"/>
            <a:ext cx="2696407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1A2733"/>
                </a:solidFill>
                <a:latin typeface="Calibri"/>
              </a:rPr>
              <a:t>Export audit timeline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044639" y="4081881"/>
            <a:ext cx="2908017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6B7A88"/>
                </a:solidFill>
                <a:latin typeface="Calibri"/>
              </a:rPr>
              <a:t>Backend CSV / PDF · append-only audit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989233" y="4081881"/>
            <a:ext cx="460022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A2733"/>
                </a:solidFill>
                <a:latin typeface="Calibri"/>
              </a:rPr>
              <a:t>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49255" y="4081881"/>
            <a:ext cx="506024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A2733"/>
                </a:solidFill>
                <a:latin typeface="Calibri"/>
              </a:rPr>
              <a:t>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2920" y="4403750"/>
            <a:ext cx="7452360" cy="5486"/>
          </a:xfrm>
          <a:prstGeom prst="rect">
            <a:avLst/>
          </a:prstGeom>
          <a:solidFill>
            <a:srgbClr val="E1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02920" y="4409236"/>
            <a:ext cx="7452360" cy="32735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594360" y="4459528"/>
            <a:ext cx="479552" cy="226771"/>
          </a:xfrm>
          <a:prstGeom prst="roundRect">
            <a:avLst>
              <a:gd name="adj" fmla="val 50000"/>
            </a:avLst>
          </a:prstGeom>
          <a:solidFill>
            <a:srgbClr val="E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2E7D46"/>
                </a:solidFill>
                <a:latin typeface="Calibri"/>
              </a:rPr>
              <a:t>Must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238504" y="4409236"/>
            <a:ext cx="2696407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1A2733"/>
                </a:solidFill>
                <a:latin typeface="Calibri"/>
              </a:rPr>
              <a:t>Safe degraded (NEA / ML / LLM) mode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044639" y="4409236"/>
            <a:ext cx="2908017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6B7A88"/>
                </a:solidFill>
                <a:latin typeface="Calibri"/>
              </a:rPr>
              <a:t>Fallback adapters · persistence forecast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89233" y="4409236"/>
            <a:ext cx="460022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A2733"/>
                </a:solidFill>
                <a:latin typeface="Calibri"/>
              </a:rPr>
              <a:t>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449255" y="4409236"/>
            <a:ext cx="506024" cy="3273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A2733"/>
                </a:solidFill>
                <a:latin typeface="Calibri"/>
              </a:rPr>
              <a:t>3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02920" y="4731105"/>
            <a:ext cx="7452360" cy="5486"/>
          </a:xfrm>
          <a:prstGeom prst="rect">
            <a:avLst/>
          </a:prstGeom>
          <a:solidFill>
            <a:srgbClr val="E1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502920" y="4864607"/>
            <a:ext cx="7452360" cy="676656"/>
          </a:xfrm>
          <a:prstGeom prst="roundRect">
            <a:avLst>
              <a:gd name="adj" fmla="val 10000"/>
            </a:avLst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67512" y="4956047"/>
            <a:ext cx="71414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2E6FB0"/>
                </a:solidFill>
                <a:latin typeface="Calibri"/>
              </a:rPr>
              <a:t>Cross-cutting:   </a:t>
            </a:r>
            <a:r>
              <a:rPr sz="1000" b="0">
                <a:solidFill>
                  <a:srgbClr val="1A2733"/>
                </a:solidFill>
                <a:latin typeface="Calibri"/>
              </a:rPr>
              <a:t>Cloud — Azure Container Apps · Static Web Apps · Azure PostgreSQL · Blob Storage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2E6FB0"/>
                </a:solidFill>
                <a:latin typeface="Calibri"/>
              </a:rPr>
              <a:t>DevSecOps — </a:t>
            </a:r>
            <a:r>
              <a:rPr sz="1000" b="0">
                <a:solidFill>
                  <a:srgbClr val="1A2733"/>
                </a:solidFill>
                <a:latin typeface="Calibri"/>
              </a:rPr>
              <a:t>GitHub Actions CI/CD · SAST + secret scan · dependency &amp; container scanning · security-remediation evidence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092440" y="1152144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8873A"/>
                </a:solidFill>
                <a:latin typeface="Calibri"/>
              </a:rPr>
              <a:t>PROTOTYPE SCREENS   (Figma)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460941" y="1783080"/>
            <a:ext cx="1068937" cy="2249424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m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8373" y="1810512"/>
            <a:ext cx="1014073" cy="2194560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8092440" y="4041648"/>
            <a:ext cx="18059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6B7A88"/>
                </a:solidFill>
                <a:latin typeface="Calibri"/>
              </a:rPr>
              <a:t>Worker · readiness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431473" y="1783080"/>
            <a:ext cx="1068937" cy="2249424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m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58905" y="1810512"/>
            <a:ext cx="1014073" cy="2194560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10062972" y="4041648"/>
            <a:ext cx="18059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6B7A88"/>
                </a:solidFill>
                <a:latin typeface="Calibri"/>
              </a:rPr>
              <a:t>Worker · action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065008" y="4398264"/>
            <a:ext cx="1860804" cy="118357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w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0" y="4425696"/>
            <a:ext cx="1805940" cy="1128712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8092440" y="5590984"/>
            <a:ext cx="18059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6B7A88"/>
                </a:solidFill>
                <a:latin typeface="Calibri"/>
              </a:rPr>
              <a:t>Supervisor · live board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035540" y="4398264"/>
            <a:ext cx="1860804" cy="118357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w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62972" y="4425696"/>
            <a:ext cx="1805940" cy="1128712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10062972" y="5590984"/>
            <a:ext cx="18059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6B7A88"/>
                </a:solidFill>
                <a:latin typeface="Calibri"/>
              </a:rPr>
              <a:t>Supervisor · approve plan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
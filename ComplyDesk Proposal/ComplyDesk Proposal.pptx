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ComplyDesk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D9E1F2"/>
                </a:solidFill>
                <a:latin typeface="Calibri"/>
              </a:rPr>
              <a:t>AI-Assisted SME Onboarding &amp; AML Compliance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From manual KYC checks and rules-only alerts  →  an explainable, auditable,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AI-assisted compliance workflow with a human officer approving every decision.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B9C7E0"/>
                </a:solidFill>
                <a:latin typeface="Calibri"/>
              </a:rPr>
              <a:t>Aligned to MAS FEAT responsible-AI principles  ·  runs on synthetic AML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FB0CE"/>
                </a:solidFill>
                <a:latin typeface="Calibri"/>
              </a:rPr>
              <a:t>NUS-ISS GDipSA · AD Project — Proposal Presentation   |   Team __  ·  Members: 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Project Description &amp; Stakeholder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5496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6692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Digital banks onboarding SMEs face manual KYC document checks and rules-only transaction alerts that flood analysts with false positives; suspicious-transaction reports are written by hand — slow, inconsistent, hard to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669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5496"/>
                </a:solidFill>
                <a:latin typeface="Calibri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566928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One platform where an </a:t>
            </a:r>
            <a:r>
              <a:rPr sz="1300" b="1" i="0">
                <a:solidFill>
                  <a:srgbClr val="404040"/>
                </a:solidFill>
                <a:latin typeface="Calibri"/>
              </a:rPr>
              <a:t>ML model</a:t>
            </a:r>
            <a:r>
              <a:rPr sz="1300" b="0" i="0">
                <a:solidFill>
                  <a:srgbClr val="404040"/>
                </a:solidFill>
                <a:latin typeface="Calibri"/>
              </a:rPr>
              <a:t> scores transaction risk (with explanations), an </a:t>
            </a:r>
            <a:r>
              <a:rPr sz="1300" b="1" i="0">
                <a:solidFill>
                  <a:srgbClr val="404040"/>
                </a:solidFill>
                <a:latin typeface="Calibri"/>
              </a:rPr>
              <a:t>AI agent</a:t>
            </a:r>
            <a:r>
              <a:rPr sz="1300" b="0" i="0">
                <a:solidFill>
                  <a:srgbClr val="404040"/>
                </a:solidFill>
                <a:latin typeface="Calibri"/>
              </a:rPr>
              <a:t> gathers context and drafts the case narrative &amp; recommended action, and a </a:t>
            </a:r>
            <a:r>
              <a:rPr sz="1300" b="1" i="0">
                <a:solidFill>
                  <a:srgbClr val="404040"/>
                </a:solidFill>
                <a:latin typeface="Calibri"/>
              </a:rPr>
              <a:t>human compliance officer approves, edits or rejects</a:t>
            </a:r>
            <a:r>
              <a:rPr sz="1300" b="0" i="0">
                <a:solidFill>
                  <a:srgbClr val="404040"/>
                </a:solidFill>
                <a:latin typeface="Calibri"/>
              </a:rPr>
              <a:t> every decision — end to end, on one backend, deployed to the cloud.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5496"/>
                </a:solidFill>
                <a:latin typeface="Calibri"/>
              </a:rPr>
              <a:t>Value to stakeholders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5303520" cy="932688"/>
          </a:xfrm>
          <a:prstGeom prst="rect">
            <a:avLst/>
          </a:prstGeom>
          <a:solidFill>
            <a:srgbClr val="D9E1F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182880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Compliance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463040"/>
            <a:ext cx="324612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04040"/>
                </a:solidFill>
                <a:latin typeface="Calibri"/>
              </a:rPr>
              <a:t>Agent drafts narrative + recommendation → less manual write-up, faster case clearance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386584"/>
            <a:ext cx="5303520" cy="932688"/>
          </a:xfrm>
          <a:prstGeom prst="rect">
            <a:avLst/>
          </a:prstGeom>
          <a:solidFill>
            <a:srgbClr val="EEF2F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32304"/>
            <a:ext cx="182880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MLRO / approver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432304"/>
            <a:ext cx="324612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04040"/>
                </a:solidFill>
                <a:latin typeface="Calibri"/>
              </a:rPr>
              <a:t>Explainable risk scores + full audit trail → confident, defensible sign-off (on mobile)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355848"/>
            <a:ext cx="5303520" cy="932688"/>
          </a:xfrm>
          <a:prstGeom prst="rect">
            <a:avLst/>
          </a:prstGeom>
          <a:solidFill>
            <a:srgbClr val="D9E1F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01568"/>
            <a:ext cx="182880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SME 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401568"/>
            <a:ext cx="324612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04040"/>
                </a:solidFill>
                <a:latin typeface="Calibri"/>
              </a:rPr>
              <a:t>Faster, transparent digital onboarding with live status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325112"/>
            <a:ext cx="5303520" cy="932688"/>
          </a:xfrm>
          <a:prstGeom prst="rect">
            <a:avLst/>
          </a:prstGeom>
          <a:solidFill>
            <a:srgbClr val="EEF2F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370832"/>
            <a:ext cx="182880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Bank / regulator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370832"/>
            <a:ext cx="324612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04040"/>
                </a:solidFill>
                <a:latin typeface="Calibri"/>
              </a:rPr>
              <a:t>Fewer false positives, consistent decisions, MAS-aligned auditability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06440"/>
            <a:ext cx="11274552" cy="685800"/>
          </a:xfrm>
          <a:prstGeom prst="rect">
            <a:avLst/>
          </a:prstGeom>
          <a:solidFill>
            <a:srgbClr val="F2F5FB"/>
          </a:solidFill>
          <a:ln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10642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Integrated technologies:  </a:t>
            </a:r>
            <a:r>
              <a:rPr sz="1100" b="0" i="0">
                <a:solidFill>
                  <a:srgbClr val="404040"/>
                </a:solidFill>
                <a:latin typeface="Calibri"/>
              </a:rPr>
              <a:t>Mobile (React Native)  ·  Web (React)  ·  ML (Python/XGBoost/SHAP)  ·  Agentic AI (LangGraph + human-in-the-loop)  ·  Dashboard (Chart.js)  ·  common backend (Spring Boot/PostgreSQL)  ·  cloud + CI/CD (AWS, GitHub Actions)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Use Case Diagram &amp; Product Backlog</a:t>
            </a:r>
          </a:p>
        </p:txBody>
      </p:sp>
      <p:pic>
        <p:nvPicPr>
          <p:cNvPr id="4" name="Picture 3" descr="ComplyDesk Use Case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004068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00800"/>
            <a:ext cx="67665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404040"/>
                </a:solidFill>
                <a:latin typeface="Calibri"/>
              </a:rPr>
              <a:t>Actors, system boundary, and the human-approval gate; «include» pulls in ML scoring + AI copilot.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051560"/>
            <a:ext cx="43891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5496"/>
                </a:solidFill>
                <a:latin typeface="Calibri"/>
              </a:rPr>
              <a:t>Product backlog — 71 features / 11 epics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463040"/>
            <a:ext cx="43891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04040"/>
                </a:solidFill>
                <a:latin typeface="Calibri"/>
              </a:rPr>
              <a:t>Prioritised MoSCoW → value → effort:  </a:t>
            </a:r>
            <a:r>
              <a:rPr sz="1100" b="1" i="0">
                <a:solidFill>
                  <a:srgbClr val="C00000"/>
                </a:solidFill>
                <a:latin typeface="Calibri"/>
              </a:rPr>
              <a:t>34 Must </a:t>
            </a:r>
            <a:r>
              <a:rPr sz="1100" b="0" i="0">
                <a:solidFill>
                  <a:srgbClr val="404040"/>
                </a:solidFill>
                <a:latin typeface="Calibri"/>
              </a:rPr>
              <a:t>· </a:t>
            </a:r>
            <a:r>
              <a:rPr sz="1100" b="1" i="0">
                <a:solidFill>
                  <a:srgbClr val="ED7D31"/>
                </a:solidFill>
                <a:latin typeface="Calibri"/>
              </a:rPr>
              <a:t>28 Should </a:t>
            </a:r>
            <a:r>
              <a:rPr sz="1100" b="0" i="0">
                <a:solidFill>
                  <a:srgbClr val="404040"/>
                </a:solidFill>
                <a:latin typeface="Calibri"/>
              </a:rPr>
              <a:t>· </a:t>
            </a:r>
            <a:r>
              <a:rPr sz="1100" b="1" i="0">
                <a:solidFill>
                  <a:srgbClr val="2E5496"/>
                </a:solidFill>
                <a:latin typeface="Calibri"/>
              </a:rPr>
              <a:t>9 Could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965960"/>
            <a:ext cx="4389120" cy="310896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965960"/>
            <a:ext cx="21031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965960"/>
            <a:ext cx="219456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Key technologies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2276856"/>
            <a:ext cx="43891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27685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Onboarding &amp; KYC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276856"/>
            <a:ext cx="21945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04040"/>
                </a:solidFill>
                <a:latin typeface="Calibri"/>
              </a:rPr>
              <a:t>React Native, S3, OCR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642616"/>
            <a:ext cx="4389120" cy="365760"/>
          </a:xfrm>
          <a:prstGeom prst="rect">
            <a:avLst/>
          </a:prstGeom>
          <a:solidFill>
            <a:srgbClr val="EEF2FA"/>
          </a:solidFill>
          <a:ln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64261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Case &amp; alert mgmt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642616"/>
            <a:ext cx="21945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04040"/>
                </a:solidFill>
                <a:latin typeface="Calibri"/>
              </a:rPr>
              <a:t>React, Spring Boot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008376"/>
            <a:ext cx="43891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0083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Monitoring &amp; ML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008376"/>
            <a:ext cx="21945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04040"/>
                </a:solidFill>
                <a:latin typeface="Calibri"/>
              </a:rPr>
              <a:t>XGBoost, FastAPI, SHAP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3374136"/>
            <a:ext cx="4389120" cy="365760"/>
          </a:xfrm>
          <a:prstGeom prst="rect">
            <a:avLst/>
          </a:prstGeom>
          <a:solidFill>
            <a:srgbClr val="EEF2FA"/>
          </a:solidFill>
          <a:ln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337413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Agentic AI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374136"/>
            <a:ext cx="21945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04040"/>
                </a:solidFill>
                <a:latin typeface="Calibri"/>
              </a:rPr>
              <a:t>LangGraph, LLM, HITL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3739896"/>
            <a:ext cx="43891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73989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STR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739896"/>
            <a:ext cx="21945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04040"/>
                </a:solidFill>
                <a:latin typeface="Calibri"/>
              </a:rPr>
              <a:t>Spring Boot, PDF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4105656"/>
            <a:ext cx="4389120" cy="365760"/>
          </a:xfrm>
          <a:prstGeom prst="rect">
            <a:avLst/>
          </a:prstGeom>
          <a:solidFill>
            <a:srgbClr val="EEF2FA"/>
          </a:solidFill>
          <a:ln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410565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Analytics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105656"/>
            <a:ext cx="21945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04040"/>
                </a:solidFill>
                <a:latin typeface="Calibri"/>
              </a:rPr>
              <a:t>React, Chart.js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4471416"/>
            <a:ext cx="43891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447141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MLRO mobile approvals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4471416"/>
            <a:ext cx="21945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04040"/>
                </a:solidFill>
                <a:latin typeface="Calibri"/>
              </a:rPr>
              <a:t>React Native, push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60920" y="4837176"/>
            <a:ext cx="4389120" cy="365760"/>
          </a:xfrm>
          <a:prstGeom prst="rect">
            <a:avLst/>
          </a:prstGeom>
          <a:solidFill>
            <a:srgbClr val="EEF2FA"/>
          </a:solidFill>
          <a:ln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4837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Auth / audit / 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837176"/>
            <a:ext cx="21945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04040"/>
                </a:solidFill>
                <a:latin typeface="Calibri"/>
              </a:rPr>
              <a:t>Spring Security, 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5202936"/>
            <a:ext cx="43891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520293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DevSecOps &amp; cloud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5202936"/>
            <a:ext cx="21945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04040"/>
                </a:solidFill>
                <a:latin typeface="Calibri"/>
              </a:rPr>
              <a:t>AWS, GitHub Actions, Semgrep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5641848"/>
            <a:ext cx="4389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404040"/>
                </a:solidFill>
                <a:latin typeface="Calibri"/>
              </a:rPr>
              <a:t>MVP = all 34 Must items (4-week scope).  Full prioritised backlog in the accompanying Excel.  Prototype screens (Figma) optional.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Prototype Screens — two apps, role-accurate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Customer app (SME) + staff console (analyst / MLRO) · built in Figma · nav differs by role (segregation of duties)</a:t>
            </a:r>
          </a:p>
        </p:txBody>
      </p:sp>
      <p:pic>
        <p:nvPicPr>
          <p:cNvPr id="5" name="Picture 4" descr="02_web_alert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73" y="1417320"/>
            <a:ext cx="3730752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59" y="3767328"/>
            <a:ext cx="378957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E5496"/>
                </a:solidFill>
                <a:latin typeface="Calibri"/>
              </a:rPr>
              <a:t>② Alert queue — Analyst (web)</a:t>
            </a:r>
          </a:p>
        </p:txBody>
      </p:sp>
      <p:pic>
        <p:nvPicPr>
          <p:cNvPr id="7" name="Picture 6" descr="03_web_invest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471" y="1417320"/>
            <a:ext cx="3730752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1057" y="3767328"/>
            <a:ext cx="378957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E5496"/>
                </a:solidFill>
                <a:latin typeface="Calibri"/>
              </a:rPr>
              <a:t>③ Investigation workspace — Analyst (web)</a:t>
            </a:r>
          </a:p>
        </p:txBody>
      </p:sp>
      <p:pic>
        <p:nvPicPr>
          <p:cNvPr id="9" name="Picture 8" descr="05_web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369" y="1417320"/>
            <a:ext cx="3730752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64955" y="3767328"/>
            <a:ext cx="378957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E5496"/>
                </a:solidFill>
                <a:latin typeface="Calibri"/>
              </a:rPr>
              <a:t>⑤ Compliance dashboard — MLRO (web)</a:t>
            </a:r>
          </a:p>
        </p:txBody>
      </p:sp>
      <p:pic>
        <p:nvPicPr>
          <p:cNvPr id="11" name="Picture 10" descr="01_mobile_onboar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196" y="4160520"/>
            <a:ext cx="1056327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64808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E5496"/>
                </a:solidFill>
                <a:latin typeface="Calibri"/>
              </a:rPr>
              <a:t>① SME onboarding — Customer (mobile)</a:t>
            </a:r>
          </a:p>
        </p:txBody>
      </p:sp>
      <p:pic>
        <p:nvPicPr>
          <p:cNvPr id="13" name="Picture 12" descr="04_mobile_ml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6636" y="4160520"/>
            <a:ext cx="1056327" cy="22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26080" y="6464808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E5496"/>
                </a:solidFill>
                <a:latin typeface="Calibri"/>
              </a:rPr>
              <a:t>④ MLRO approvals — MLRO (mobile)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4160520"/>
            <a:ext cx="5897880" cy="2468880"/>
          </a:xfrm>
          <a:prstGeom prst="rect">
            <a:avLst/>
          </a:prstGeom>
          <a:solidFill>
            <a:srgbClr val="F2F5FB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4325112"/>
            <a:ext cx="544068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Why the navigation differs by role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40404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404040"/>
                </a:solidFill>
                <a:latin typeface="Calibri"/>
              </a:rPr>
              <a:t>• Two products: </a:t>
            </a:r>
            <a:r>
              <a:rPr sz="1200" b="0">
                <a:solidFill>
                  <a:srgbClr val="404040"/>
                </a:solidFill>
                <a:latin typeface="Calibri"/>
              </a:rPr>
              <a:t>ComplyDesk for Business</a:t>
            </a:r>
            <a:r>
              <a:rPr sz="1200" b="1">
                <a:solidFill>
                  <a:srgbClr val="404040"/>
                </a:solidFill>
                <a:latin typeface="Calibri"/>
              </a:rPr>
              <a:t> (external SME app) and </a:t>
            </a:r>
            <a:r>
              <a:rPr sz="1200" b="0">
                <a:solidFill>
                  <a:srgbClr val="404040"/>
                </a:solidFill>
                <a:latin typeface="Calibri"/>
              </a:rPr>
              <a:t>ComplyDesk Console</a:t>
            </a:r>
            <a:r>
              <a:rPr sz="1200" b="0">
                <a:solidFill>
                  <a:srgbClr val="404040"/>
                </a:solidFill>
                <a:latin typeface="Calibri"/>
              </a:rPr>
              <a:t> (internal staff, web + mobile).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• The SME app never exposes internal alerts or cases — data segregation.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• Only the MLRO sees Approvals &amp; Admin; analysts do not — segregation of duties (an AML / MAS-FEAT control).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• Home &amp; Profile are shared across all apps for one design language.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40404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5496"/>
                </a:solidFill>
                <a:latin typeface="Calibri"/>
              </a:rPr>
              <a:t>Hero flow: report → ML risk score (+SHAP) → AI copilot drafts STR → human approves → dashboard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